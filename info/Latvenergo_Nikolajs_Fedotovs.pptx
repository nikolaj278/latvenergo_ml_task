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4" r:id="rId8"/>
    <p:sldId id="265" r:id="rId9"/>
    <p:sldId id="266" r:id="rId10"/>
    <p:sldId id="267" r:id="rId11"/>
    <p:sldId id="268" r:id="rId12"/>
    <p:sldId id="271" r:id="rId13"/>
    <p:sldId id="272" r:id="rId14"/>
    <p:sldId id="270" r:id="rId15"/>
  </p:sldIdLst>
  <p:sldSz cx="12192000" cy="6858000"/>
  <p:notesSz cx="6858000" cy="9144000"/>
  <p:defaultTextStyle>
    <a:defPPr>
      <a:defRPr lang="en-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953"/>
  </p:normalViewPr>
  <p:slideViewPr>
    <p:cSldViewPr snapToGrid="0">
      <p:cViewPr varScale="1">
        <p:scale>
          <a:sx n="85" d="100"/>
          <a:sy n="85" d="100"/>
        </p:scale>
        <p:origin x="10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8128-78BA-C4A8-9858-00F8B96462A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V"/>
          </a:p>
        </p:txBody>
      </p:sp>
      <p:sp>
        <p:nvSpPr>
          <p:cNvPr id="3" name="Subtitle 2">
            <a:extLst>
              <a:ext uri="{FF2B5EF4-FFF2-40B4-BE49-F238E27FC236}">
                <a16:creationId xmlns:a16="http://schemas.microsoft.com/office/drawing/2014/main" id="{2AEC5F31-AA51-C4A4-569A-030A4FF7D3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V"/>
          </a:p>
        </p:txBody>
      </p:sp>
      <p:sp>
        <p:nvSpPr>
          <p:cNvPr id="4" name="Date Placeholder 3">
            <a:extLst>
              <a:ext uri="{FF2B5EF4-FFF2-40B4-BE49-F238E27FC236}">
                <a16:creationId xmlns:a16="http://schemas.microsoft.com/office/drawing/2014/main" id="{702FC366-B9AE-014B-3485-1306102722C6}"/>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DCC0FEB6-CCF8-3877-89D8-23EA0031AEA7}"/>
              </a:ext>
            </a:extLst>
          </p:cNvPr>
          <p:cNvSpPr>
            <a:spLocks noGrp="1"/>
          </p:cNvSpPr>
          <p:nvPr>
            <p:ph type="ftr" sz="quarter" idx="11"/>
          </p:nvPr>
        </p:nvSpPr>
        <p:spPr/>
        <p:txBody>
          <a:bodyPr/>
          <a:lstStyle/>
          <a:p>
            <a:endParaRPr lang="en-LV"/>
          </a:p>
        </p:txBody>
      </p:sp>
      <p:sp>
        <p:nvSpPr>
          <p:cNvPr id="6" name="Slide Number Placeholder 5">
            <a:extLst>
              <a:ext uri="{FF2B5EF4-FFF2-40B4-BE49-F238E27FC236}">
                <a16:creationId xmlns:a16="http://schemas.microsoft.com/office/drawing/2014/main" id="{8B60DF58-A73B-18AE-ED7A-C5D81139E1F8}"/>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1079569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2435-4888-AE51-6AEA-AE7B3F10FECE}"/>
              </a:ext>
            </a:extLst>
          </p:cNvPr>
          <p:cNvSpPr>
            <a:spLocks noGrp="1"/>
          </p:cNvSpPr>
          <p:nvPr>
            <p:ph type="title"/>
          </p:nvPr>
        </p:nvSpPr>
        <p:spPr/>
        <p:txBody>
          <a:bodyPr/>
          <a:lstStyle/>
          <a:p>
            <a:r>
              <a:rPr lang="en-GB"/>
              <a:t>Click to edit Master title style</a:t>
            </a:r>
            <a:endParaRPr lang="en-LV"/>
          </a:p>
        </p:txBody>
      </p:sp>
      <p:sp>
        <p:nvSpPr>
          <p:cNvPr id="3" name="Content Placeholder 2">
            <a:extLst>
              <a:ext uri="{FF2B5EF4-FFF2-40B4-BE49-F238E27FC236}">
                <a16:creationId xmlns:a16="http://schemas.microsoft.com/office/drawing/2014/main" id="{61DF6473-1D55-97F5-6B88-219EF816EB7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Date Placeholder 3">
            <a:extLst>
              <a:ext uri="{FF2B5EF4-FFF2-40B4-BE49-F238E27FC236}">
                <a16:creationId xmlns:a16="http://schemas.microsoft.com/office/drawing/2014/main" id="{38F1D381-78FA-3E2F-4022-EC7426D00E01}"/>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CEC67906-447C-D171-20F7-680E8D52DB88}"/>
              </a:ext>
            </a:extLst>
          </p:cNvPr>
          <p:cNvSpPr>
            <a:spLocks noGrp="1"/>
          </p:cNvSpPr>
          <p:nvPr>
            <p:ph type="ftr" sz="quarter" idx="11"/>
          </p:nvPr>
        </p:nvSpPr>
        <p:spPr/>
        <p:txBody>
          <a:bodyPr/>
          <a:lstStyle/>
          <a:p>
            <a:endParaRPr lang="en-LV"/>
          </a:p>
        </p:txBody>
      </p:sp>
      <p:sp>
        <p:nvSpPr>
          <p:cNvPr id="6" name="Slide Number Placeholder 5">
            <a:extLst>
              <a:ext uri="{FF2B5EF4-FFF2-40B4-BE49-F238E27FC236}">
                <a16:creationId xmlns:a16="http://schemas.microsoft.com/office/drawing/2014/main" id="{BBB12E46-09DC-E46C-40E0-27FFBEA95864}"/>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2158843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C7E6-B719-68E7-1A00-7513FA96910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V"/>
          </a:p>
        </p:txBody>
      </p:sp>
      <p:sp>
        <p:nvSpPr>
          <p:cNvPr id="3" name="Text Placeholder 2">
            <a:extLst>
              <a:ext uri="{FF2B5EF4-FFF2-40B4-BE49-F238E27FC236}">
                <a16:creationId xmlns:a16="http://schemas.microsoft.com/office/drawing/2014/main" id="{4A190D56-247F-D2B6-62AA-1763B93E22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22E3B20-5DAA-A42A-271F-335FEB24A6B4}"/>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D1963449-8C10-0117-5181-43D2D73D4307}"/>
              </a:ext>
            </a:extLst>
          </p:cNvPr>
          <p:cNvSpPr>
            <a:spLocks noGrp="1"/>
          </p:cNvSpPr>
          <p:nvPr>
            <p:ph type="ftr" sz="quarter" idx="11"/>
          </p:nvPr>
        </p:nvSpPr>
        <p:spPr/>
        <p:txBody>
          <a:bodyPr/>
          <a:lstStyle/>
          <a:p>
            <a:endParaRPr lang="en-LV"/>
          </a:p>
        </p:txBody>
      </p:sp>
      <p:sp>
        <p:nvSpPr>
          <p:cNvPr id="6" name="Slide Number Placeholder 5">
            <a:extLst>
              <a:ext uri="{FF2B5EF4-FFF2-40B4-BE49-F238E27FC236}">
                <a16:creationId xmlns:a16="http://schemas.microsoft.com/office/drawing/2014/main" id="{335316A8-6642-9FAF-9388-4650610CB51F}"/>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767078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85F3F-8285-1244-EE68-17BCE4535425}"/>
              </a:ext>
            </a:extLst>
          </p:cNvPr>
          <p:cNvSpPr>
            <a:spLocks noGrp="1"/>
          </p:cNvSpPr>
          <p:nvPr>
            <p:ph type="title"/>
          </p:nvPr>
        </p:nvSpPr>
        <p:spPr/>
        <p:txBody>
          <a:bodyPr/>
          <a:lstStyle/>
          <a:p>
            <a:r>
              <a:rPr lang="en-GB"/>
              <a:t>Click to edit Master title style</a:t>
            </a:r>
            <a:endParaRPr lang="en-LV"/>
          </a:p>
        </p:txBody>
      </p:sp>
      <p:sp>
        <p:nvSpPr>
          <p:cNvPr id="3" name="Content Placeholder 2">
            <a:extLst>
              <a:ext uri="{FF2B5EF4-FFF2-40B4-BE49-F238E27FC236}">
                <a16:creationId xmlns:a16="http://schemas.microsoft.com/office/drawing/2014/main" id="{49A137F0-39C6-7C75-5862-A9C976742A6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Content Placeholder 3">
            <a:extLst>
              <a:ext uri="{FF2B5EF4-FFF2-40B4-BE49-F238E27FC236}">
                <a16:creationId xmlns:a16="http://schemas.microsoft.com/office/drawing/2014/main" id="{95AF0F50-DC97-8D73-EC87-6D542A75BBD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5" name="Date Placeholder 4">
            <a:extLst>
              <a:ext uri="{FF2B5EF4-FFF2-40B4-BE49-F238E27FC236}">
                <a16:creationId xmlns:a16="http://schemas.microsoft.com/office/drawing/2014/main" id="{A68B5206-E0EF-366C-121C-4EDAA8F0AB5C}"/>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6" name="Footer Placeholder 5">
            <a:extLst>
              <a:ext uri="{FF2B5EF4-FFF2-40B4-BE49-F238E27FC236}">
                <a16:creationId xmlns:a16="http://schemas.microsoft.com/office/drawing/2014/main" id="{21D45309-BFA9-B146-7795-706C2DA74164}"/>
              </a:ext>
            </a:extLst>
          </p:cNvPr>
          <p:cNvSpPr>
            <a:spLocks noGrp="1"/>
          </p:cNvSpPr>
          <p:nvPr>
            <p:ph type="ftr" sz="quarter" idx="11"/>
          </p:nvPr>
        </p:nvSpPr>
        <p:spPr/>
        <p:txBody>
          <a:bodyPr/>
          <a:lstStyle/>
          <a:p>
            <a:endParaRPr lang="en-LV"/>
          </a:p>
        </p:txBody>
      </p:sp>
      <p:sp>
        <p:nvSpPr>
          <p:cNvPr id="7" name="Slide Number Placeholder 6">
            <a:extLst>
              <a:ext uri="{FF2B5EF4-FFF2-40B4-BE49-F238E27FC236}">
                <a16:creationId xmlns:a16="http://schemas.microsoft.com/office/drawing/2014/main" id="{F87D23C2-4FB3-B9B1-003D-91B15E2BA5EA}"/>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3762760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5924-C7B0-F40F-9D69-855F04246322}"/>
              </a:ext>
            </a:extLst>
          </p:cNvPr>
          <p:cNvSpPr>
            <a:spLocks noGrp="1"/>
          </p:cNvSpPr>
          <p:nvPr>
            <p:ph type="title"/>
          </p:nvPr>
        </p:nvSpPr>
        <p:spPr>
          <a:xfrm>
            <a:off x="839788" y="365125"/>
            <a:ext cx="10515600" cy="1325563"/>
          </a:xfrm>
        </p:spPr>
        <p:txBody>
          <a:bodyPr/>
          <a:lstStyle/>
          <a:p>
            <a:r>
              <a:rPr lang="en-GB"/>
              <a:t>Click to edit Master title style</a:t>
            </a:r>
            <a:endParaRPr lang="en-LV"/>
          </a:p>
        </p:txBody>
      </p:sp>
      <p:sp>
        <p:nvSpPr>
          <p:cNvPr id="3" name="Text Placeholder 2">
            <a:extLst>
              <a:ext uri="{FF2B5EF4-FFF2-40B4-BE49-F238E27FC236}">
                <a16:creationId xmlns:a16="http://schemas.microsoft.com/office/drawing/2014/main" id="{0F7BC8B2-497D-534F-F8D9-B7F7C0942E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B98A952-9459-EBDA-7A5B-FF0C19D3506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5" name="Text Placeholder 4">
            <a:extLst>
              <a:ext uri="{FF2B5EF4-FFF2-40B4-BE49-F238E27FC236}">
                <a16:creationId xmlns:a16="http://schemas.microsoft.com/office/drawing/2014/main" id="{ACACD77D-9CE0-C5F9-CA67-DDB4799D2C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F58B752-E5F8-05E1-CAD3-40701BA892F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7" name="Date Placeholder 6">
            <a:extLst>
              <a:ext uri="{FF2B5EF4-FFF2-40B4-BE49-F238E27FC236}">
                <a16:creationId xmlns:a16="http://schemas.microsoft.com/office/drawing/2014/main" id="{B5675D57-DF13-48B1-1356-0DDDD92B2E67}"/>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8" name="Footer Placeholder 7">
            <a:extLst>
              <a:ext uri="{FF2B5EF4-FFF2-40B4-BE49-F238E27FC236}">
                <a16:creationId xmlns:a16="http://schemas.microsoft.com/office/drawing/2014/main" id="{10BE9AB2-A2DF-89B1-70C8-7442922173F1}"/>
              </a:ext>
            </a:extLst>
          </p:cNvPr>
          <p:cNvSpPr>
            <a:spLocks noGrp="1"/>
          </p:cNvSpPr>
          <p:nvPr>
            <p:ph type="ftr" sz="quarter" idx="11"/>
          </p:nvPr>
        </p:nvSpPr>
        <p:spPr/>
        <p:txBody>
          <a:bodyPr/>
          <a:lstStyle/>
          <a:p>
            <a:endParaRPr lang="en-LV"/>
          </a:p>
        </p:txBody>
      </p:sp>
      <p:sp>
        <p:nvSpPr>
          <p:cNvPr id="9" name="Slide Number Placeholder 8">
            <a:extLst>
              <a:ext uri="{FF2B5EF4-FFF2-40B4-BE49-F238E27FC236}">
                <a16:creationId xmlns:a16="http://schemas.microsoft.com/office/drawing/2014/main" id="{4E65E7A1-C995-1542-13A9-1EE189A354AE}"/>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630706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490E5-4C47-DC8E-C1D2-70F6BF7A1DB1}"/>
              </a:ext>
            </a:extLst>
          </p:cNvPr>
          <p:cNvSpPr>
            <a:spLocks noGrp="1"/>
          </p:cNvSpPr>
          <p:nvPr>
            <p:ph type="title"/>
          </p:nvPr>
        </p:nvSpPr>
        <p:spPr/>
        <p:txBody>
          <a:bodyPr/>
          <a:lstStyle/>
          <a:p>
            <a:r>
              <a:rPr lang="en-GB"/>
              <a:t>Click to edit Master title style</a:t>
            </a:r>
            <a:endParaRPr lang="en-LV"/>
          </a:p>
        </p:txBody>
      </p:sp>
      <p:sp>
        <p:nvSpPr>
          <p:cNvPr id="3" name="Date Placeholder 2">
            <a:extLst>
              <a:ext uri="{FF2B5EF4-FFF2-40B4-BE49-F238E27FC236}">
                <a16:creationId xmlns:a16="http://schemas.microsoft.com/office/drawing/2014/main" id="{0EFBE1B0-4F75-CA87-ECB5-9DED0D1B2218}"/>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4" name="Footer Placeholder 3">
            <a:extLst>
              <a:ext uri="{FF2B5EF4-FFF2-40B4-BE49-F238E27FC236}">
                <a16:creationId xmlns:a16="http://schemas.microsoft.com/office/drawing/2014/main" id="{779266FC-FFFA-7F84-A15C-C34FCC1A2F13}"/>
              </a:ext>
            </a:extLst>
          </p:cNvPr>
          <p:cNvSpPr>
            <a:spLocks noGrp="1"/>
          </p:cNvSpPr>
          <p:nvPr>
            <p:ph type="ftr" sz="quarter" idx="11"/>
          </p:nvPr>
        </p:nvSpPr>
        <p:spPr/>
        <p:txBody>
          <a:bodyPr/>
          <a:lstStyle/>
          <a:p>
            <a:endParaRPr lang="en-LV"/>
          </a:p>
        </p:txBody>
      </p:sp>
      <p:sp>
        <p:nvSpPr>
          <p:cNvPr id="5" name="Slide Number Placeholder 4">
            <a:extLst>
              <a:ext uri="{FF2B5EF4-FFF2-40B4-BE49-F238E27FC236}">
                <a16:creationId xmlns:a16="http://schemas.microsoft.com/office/drawing/2014/main" id="{B952EE81-5033-CF8B-E0CE-A4D82F4EAE55}"/>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1714775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8CA5F-E290-85F3-A38D-8C15F044DB7C}"/>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3" name="Footer Placeholder 2">
            <a:extLst>
              <a:ext uri="{FF2B5EF4-FFF2-40B4-BE49-F238E27FC236}">
                <a16:creationId xmlns:a16="http://schemas.microsoft.com/office/drawing/2014/main" id="{EFC15F51-2FAA-4E2E-D85F-068BDDEE2253}"/>
              </a:ext>
            </a:extLst>
          </p:cNvPr>
          <p:cNvSpPr>
            <a:spLocks noGrp="1"/>
          </p:cNvSpPr>
          <p:nvPr>
            <p:ph type="ftr" sz="quarter" idx="11"/>
          </p:nvPr>
        </p:nvSpPr>
        <p:spPr/>
        <p:txBody>
          <a:bodyPr/>
          <a:lstStyle/>
          <a:p>
            <a:endParaRPr lang="en-LV"/>
          </a:p>
        </p:txBody>
      </p:sp>
      <p:sp>
        <p:nvSpPr>
          <p:cNvPr id="4" name="Slide Number Placeholder 3">
            <a:extLst>
              <a:ext uri="{FF2B5EF4-FFF2-40B4-BE49-F238E27FC236}">
                <a16:creationId xmlns:a16="http://schemas.microsoft.com/office/drawing/2014/main" id="{7CB4E6D4-ACD9-3B2A-EB8B-519C343B750E}"/>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336375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C0CE-BCFD-4FA3-71FD-3EAB7292FF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V"/>
          </a:p>
        </p:txBody>
      </p:sp>
      <p:sp>
        <p:nvSpPr>
          <p:cNvPr id="3" name="Content Placeholder 2">
            <a:extLst>
              <a:ext uri="{FF2B5EF4-FFF2-40B4-BE49-F238E27FC236}">
                <a16:creationId xmlns:a16="http://schemas.microsoft.com/office/drawing/2014/main" id="{33C55D8F-1E5D-F970-DAEE-4EBA146E21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Text Placeholder 3">
            <a:extLst>
              <a:ext uri="{FF2B5EF4-FFF2-40B4-BE49-F238E27FC236}">
                <a16:creationId xmlns:a16="http://schemas.microsoft.com/office/drawing/2014/main" id="{9AC35AF3-5886-FAD9-A5BC-A63AA48594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2FD0E8-49EE-2D03-D04A-9EB8AE4F9385}"/>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6" name="Footer Placeholder 5">
            <a:extLst>
              <a:ext uri="{FF2B5EF4-FFF2-40B4-BE49-F238E27FC236}">
                <a16:creationId xmlns:a16="http://schemas.microsoft.com/office/drawing/2014/main" id="{777611E5-882C-5CB2-3F1B-FB69D6DF38DE}"/>
              </a:ext>
            </a:extLst>
          </p:cNvPr>
          <p:cNvSpPr>
            <a:spLocks noGrp="1"/>
          </p:cNvSpPr>
          <p:nvPr>
            <p:ph type="ftr" sz="quarter" idx="11"/>
          </p:nvPr>
        </p:nvSpPr>
        <p:spPr/>
        <p:txBody>
          <a:bodyPr/>
          <a:lstStyle/>
          <a:p>
            <a:endParaRPr lang="en-LV"/>
          </a:p>
        </p:txBody>
      </p:sp>
      <p:sp>
        <p:nvSpPr>
          <p:cNvPr id="7" name="Slide Number Placeholder 6">
            <a:extLst>
              <a:ext uri="{FF2B5EF4-FFF2-40B4-BE49-F238E27FC236}">
                <a16:creationId xmlns:a16="http://schemas.microsoft.com/office/drawing/2014/main" id="{B0837058-BB6F-083F-EF6E-CE0CA6C38A00}"/>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1239546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B508D-1E3C-21CC-5AB5-0500BAF1813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V"/>
          </a:p>
        </p:txBody>
      </p:sp>
      <p:sp>
        <p:nvSpPr>
          <p:cNvPr id="3" name="Picture Placeholder 2">
            <a:extLst>
              <a:ext uri="{FF2B5EF4-FFF2-40B4-BE49-F238E27FC236}">
                <a16:creationId xmlns:a16="http://schemas.microsoft.com/office/drawing/2014/main" id="{B18513D5-0D45-21DE-8D0A-8C3BEEE50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V"/>
          </a:p>
        </p:txBody>
      </p:sp>
      <p:sp>
        <p:nvSpPr>
          <p:cNvPr id="4" name="Text Placeholder 3">
            <a:extLst>
              <a:ext uri="{FF2B5EF4-FFF2-40B4-BE49-F238E27FC236}">
                <a16:creationId xmlns:a16="http://schemas.microsoft.com/office/drawing/2014/main" id="{6DF03019-2286-F995-67B1-654E8C952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A77ADC7-5443-E1A4-B2ED-34EDAFFEEA7E}"/>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6" name="Footer Placeholder 5">
            <a:extLst>
              <a:ext uri="{FF2B5EF4-FFF2-40B4-BE49-F238E27FC236}">
                <a16:creationId xmlns:a16="http://schemas.microsoft.com/office/drawing/2014/main" id="{F84EBD14-C2E5-AA91-AD6E-671190622C4F}"/>
              </a:ext>
            </a:extLst>
          </p:cNvPr>
          <p:cNvSpPr>
            <a:spLocks noGrp="1"/>
          </p:cNvSpPr>
          <p:nvPr>
            <p:ph type="ftr" sz="quarter" idx="11"/>
          </p:nvPr>
        </p:nvSpPr>
        <p:spPr/>
        <p:txBody>
          <a:bodyPr/>
          <a:lstStyle/>
          <a:p>
            <a:endParaRPr lang="en-LV"/>
          </a:p>
        </p:txBody>
      </p:sp>
      <p:sp>
        <p:nvSpPr>
          <p:cNvPr id="7" name="Slide Number Placeholder 6">
            <a:extLst>
              <a:ext uri="{FF2B5EF4-FFF2-40B4-BE49-F238E27FC236}">
                <a16:creationId xmlns:a16="http://schemas.microsoft.com/office/drawing/2014/main" id="{BCE3394D-638D-47C8-DCC8-CCAC632300C8}"/>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352268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64174-CE63-3353-68CF-DFA0DA8CEDD5}"/>
              </a:ext>
            </a:extLst>
          </p:cNvPr>
          <p:cNvSpPr>
            <a:spLocks noGrp="1"/>
          </p:cNvSpPr>
          <p:nvPr>
            <p:ph type="title"/>
          </p:nvPr>
        </p:nvSpPr>
        <p:spPr/>
        <p:txBody>
          <a:bodyPr/>
          <a:lstStyle/>
          <a:p>
            <a:r>
              <a:rPr lang="en-GB"/>
              <a:t>Click to edit Master title style</a:t>
            </a:r>
            <a:endParaRPr lang="en-LV"/>
          </a:p>
        </p:txBody>
      </p:sp>
      <p:sp>
        <p:nvSpPr>
          <p:cNvPr id="3" name="Vertical Text Placeholder 2">
            <a:extLst>
              <a:ext uri="{FF2B5EF4-FFF2-40B4-BE49-F238E27FC236}">
                <a16:creationId xmlns:a16="http://schemas.microsoft.com/office/drawing/2014/main" id="{F9C425D9-AED5-9198-74D4-3F165775AF7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Date Placeholder 3">
            <a:extLst>
              <a:ext uri="{FF2B5EF4-FFF2-40B4-BE49-F238E27FC236}">
                <a16:creationId xmlns:a16="http://schemas.microsoft.com/office/drawing/2014/main" id="{4B13708F-7799-7D70-9AD2-B585561C83C5}"/>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94BF5699-09E8-6E01-7A6A-78767245BCAD}"/>
              </a:ext>
            </a:extLst>
          </p:cNvPr>
          <p:cNvSpPr>
            <a:spLocks noGrp="1"/>
          </p:cNvSpPr>
          <p:nvPr>
            <p:ph type="ftr" sz="quarter" idx="11"/>
          </p:nvPr>
        </p:nvSpPr>
        <p:spPr/>
        <p:txBody>
          <a:bodyPr/>
          <a:lstStyle/>
          <a:p>
            <a:endParaRPr lang="en-LV"/>
          </a:p>
        </p:txBody>
      </p:sp>
      <p:sp>
        <p:nvSpPr>
          <p:cNvPr id="6" name="Slide Number Placeholder 5">
            <a:extLst>
              <a:ext uri="{FF2B5EF4-FFF2-40B4-BE49-F238E27FC236}">
                <a16:creationId xmlns:a16="http://schemas.microsoft.com/office/drawing/2014/main" id="{A574BFF8-CAD7-FBCA-93E5-11B389BD211A}"/>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2620538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F99CB-A110-DDDE-B903-BC49D66CB37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V"/>
          </a:p>
        </p:txBody>
      </p:sp>
      <p:sp>
        <p:nvSpPr>
          <p:cNvPr id="3" name="Vertical Text Placeholder 2">
            <a:extLst>
              <a:ext uri="{FF2B5EF4-FFF2-40B4-BE49-F238E27FC236}">
                <a16:creationId xmlns:a16="http://schemas.microsoft.com/office/drawing/2014/main" id="{C56B7E0C-00D5-318C-D6F2-BA458B07EEA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Date Placeholder 3">
            <a:extLst>
              <a:ext uri="{FF2B5EF4-FFF2-40B4-BE49-F238E27FC236}">
                <a16:creationId xmlns:a16="http://schemas.microsoft.com/office/drawing/2014/main" id="{E39A043B-708E-46BC-216E-314A523932D4}"/>
              </a:ext>
            </a:extLst>
          </p:cNvPr>
          <p:cNvSpPr>
            <a:spLocks noGrp="1"/>
          </p:cNvSpPr>
          <p:nvPr>
            <p:ph type="dt" sz="half" idx="10"/>
          </p:nvPr>
        </p:nvSpPr>
        <p:spPr/>
        <p:txBody>
          <a:body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74EF52E8-08E1-FBA8-BAC7-EF3B300D18B8}"/>
              </a:ext>
            </a:extLst>
          </p:cNvPr>
          <p:cNvSpPr>
            <a:spLocks noGrp="1"/>
          </p:cNvSpPr>
          <p:nvPr>
            <p:ph type="ftr" sz="quarter" idx="11"/>
          </p:nvPr>
        </p:nvSpPr>
        <p:spPr/>
        <p:txBody>
          <a:bodyPr/>
          <a:lstStyle/>
          <a:p>
            <a:endParaRPr lang="en-LV"/>
          </a:p>
        </p:txBody>
      </p:sp>
      <p:sp>
        <p:nvSpPr>
          <p:cNvPr id="6" name="Slide Number Placeholder 5">
            <a:extLst>
              <a:ext uri="{FF2B5EF4-FFF2-40B4-BE49-F238E27FC236}">
                <a16:creationId xmlns:a16="http://schemas.microsoft.com/office/drawing/2014/main" id="{561CE1E6-ED02-B282-FD91-4DEC964995D7}"/>
              </a:ext>
            </a:extLst>
          </p:cNvPr>
          <p:cNvSpPr>
            <a:spLocks noGrp="1"/>
          </p:cNvSpPr>
          <p:nvPr>
            <p:ph type="sldNum" sz="quarter" idx="12"/>
          </p:nvPr>
        </p:nvSpPr>
        <p:spPr/>
        <p:txBody>
          <a:bodyPr/>
          <a:lstStyle/>
          <a:p>
            <a:fld id="{BFD9CB59-F626-BC40-813C-9AB13BC26047}" type="slidenum">
              <a:rPr lang="en-LV" smtClean="0"/>
              <a:t>‹#›</a:t>
            </a:fld>
            <a:endParaRPr lang="en-LV"/>
          </a:p>
        </p:txBody>
      </p:sp>
    </p:spTree>
    <p:extLst>
      <p:ext uri="{BB962C8B-B14F-4D97-AF65-F5344CB8AC3E}">
        <p14:creationId xmlns:p14="http://schemas.microsoft.com/office/powerpoint/2010/main" val="276612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4486A-37C1-00E4-C9FB-3B2D04604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V"/>
          </a:p>
        </p:txBody>
      </p:sp>
      <p:sp>
        <p:nvSpPr>
          <p:cNvPr id="3" name="Text Placeholder 2">
            <a:extLst>
              <a:ext uri="{FF2B5EF4-FFF2-40B4-BE49-F238E27FC236}">
                <a16:creationId xmlns:a16="http://schemas.microsoft.com/office/drawing/2014/main" id="{173115A4-1D66-950E-6292-49376B52C1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V"/>
          </a:p>
        </p:txBody>
      </p:sp>
      <p:sp>
        <p:nvSpPr>
          <p:cNvPr id="4" name="Date Placeholder 3">
            <a:extLst>
              <a:ext uri="{FF2B5EF4-FFF2-40B4-BE49-F238E27FC236}">
                <a16:creationId xmlns:a16="http://schemas.microsoft.com/office/drawing/2014/main" id="{2611EAB5-64CE-5E9B-38FF-BDE40F699F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5353F-C22F-7945-8A9C-4301F54334D8}" type="datetimeFigureOut">
              <a:rPr lang="en-LV" smtClean="0"/>
              <a:t>11/03/2026</a:t>
            </a:fld>
            <a:endParaRPr lang="en-LV"/>
          </a:p>
        </p:txBody>
      </p:sp>
      <p:sp>
        <p:nvSpPr>
          <p:cNvPr id="5" name="Footer Placeholder 4">
            <a:extLst>
              <a:ext uri="{FF2B5EF4-FFF2-40B4-BE49-F238E27FC236}">
                <a16:creationId xmlns:a16="http://schemas.microsoft.com/office/drawing/2014/main" id="{A9CABD38-42C8-A025-28C0-8755ACC4C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V"/>
          </a:p>
        </p:txBody>
      </p:sp>
      <p:sp>
        <p:nvSpPr>
          <p:cNvPr id="6" name="Slide Number Placeholder 5">
            <a:extLst>
              <a:ext uri="{FF2B5EF4-FFF2-40B4-BE49-F238E27FC236}">
                <a16:creationId xmlns:a16="http://schemas.microsoft.com/office/drawing/2014/main" id="{52139F68-75B5-E1A2-B464-3A89D593A0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D9CB59-F626-BC40-813C-9AB13BC26047}" type="slidenum">
              <a:rPr lang="en-LV" smtClean="0"/>
              <a:t>‹#›</a:t>
            </a:fld>
            <a:endParaRPr lang="en-LV"/>
          </a:p>
        </p:txBody>
      </p:sp>
    </p:spTree>
    <p:extLst>
      <p:ext uri="{BB962C8B-B14F-4D97-AF65-F5344CB8AC3E}">
        <p14:creationId xmlns:p14="http://schemas.microsoft.com/office/powerpoint/2010/main" val="605793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4F3F-9F37-E19F-6622-A0739BA1BE63}"/>
              </a:ext>
            </a:extLst>
          </p:cNvPr>
          <p:cNvSpPr>
            <a:spLocks noGrp="1"/>
          </p:cNvSpPr>
          <p:nvPr>
            <p:ph type="ctrTitle"/>
          </p:nvPr>
        </p:nvSpPr>
        <p:spPr/>
        <p:txBody>
          <a:bodyPr>
            <a:normAutofit fontScale="90000"/>
          </a:bodyPr>
          <a:lstStyle/>
          <a:p>
            <a:r>
              <a:rPr lang="en-GB" dirty="0" err="1"/>
              <a:t>Automātisko</a:t>
            </a:r>
            <a:r>
              <a:rPr lang="en-GB" dirty="0"/>
              <a:t> </a:t>
            </a:r>
            <a:r>
              <a:rPr lang="en-GB" dirty="0" err="1"/>
              <a:t>runas</a:t>
            </a:r>
            <a:r>
              <a:rPr lang="en-GB" dirty="0"/>
              <a:t> </a:t>
            </a:r>
            <a:r>
              <a:rPr lang="en-GB" dirty="0" err="1"/>
              <a:t>transkripciju</a:t>
            </a:r>
            <a:r>
              <a:rPr lang="en-GB" dirty="0"/>
              <a:t> </a:t>
            </a:r>
            <a:r>
              <a:rPr lang="en-GB" dirty="0" err="1"/>
              <a:t>kvalitātes</a:t>
            </a:r>
            <a:r>
              <a:rPr lang="en-GB" dirty="0"/>
              <a:t> </a:t>
            </a:r>
            <a:r>
              <a:rPr lang="en-GB" dirty="0" err="1"/>
              <a:t>novērtēšana</a:t>
            </a:r>
            <a:endParaRPr lang="en-LV" dirty="0"/>
          </a:p>
        </p:txBody>
      </p:sp>
      <p:sp>
        <p:nvSpPr>
          <p:cNvPr id="3" name="Subtitle 2">
            <a:extLst>
              <a:ext uri="{FF2B5EF4-FFF2-40B4-BE49-F238E27FC236}">
                <a16:creationId xmlns:a16="http://schemas.microsoft.com/office/drawing/2014/main" id="{0C57CEBE-2DE4-DAC1-8C5E-788C72E1586D}"/>
              </a:ext>
            </a:extLst>
          </p:cNvPr>
          <p:cNvSpPr>
            <a:spLocks noGrp="1"/>
          </p:cNvSpPr>
          <p:nvPr>
            <p:ph type="subTitle" idx="1"/>
          </p:nvPr>
        </p:nvSpPr>
        <p:spPr/>
        <p:txBody>
          <a:bodyPr/>
          <a:lstStyle/>
          <a:p>
            <a:r>
              <a:rPr lang="en-LV" dirty="0"/>
              <a:t>Nikolajs Fedotovs</a:t>
            </a:r>
          </a:p>
        </p:txBody>
      </p:sp>
    </p:spTree>
    <p:extLst>
      <p:ext uri="{BB962C8B-B14F-4D97-AF65-F5344CB8AC3E}">
        <p14:creationId xmlns:p14="http://schemas.microsoft.com/office/powerpoint/2010/main" val="339681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A468C-CA29-B292-D60B-FAE4C52B9CC6}"/>
              </a:ext>
            </a:extLst>
          </p:cNvPr>
          <p:cNvSpPr>
            <a:spLocks noGrp="1"/>
          </p:cNvSpPr>
          <p:nvPr>
            <p:ph type="title"/>
          </p:nvPr>
        </p:nvSpPr>
        <p:spPr/>
        <p:txBody>
          <a:bodyPr/>
          <a:lstStyle/>
          <a:p>
            <a:r>
              <a:rPr lang="en-LV" dirty="0"/>
              <a:t>Uzdevumi</a:t>
            </a:r>
          </a:p>
        </p:txBody>
      </p:sp>
      <p:sp>
        <p:nvSpPr>
          <p:cNvPr id="3" name="Content Placeholder 2">
            <a:extLst>
              <a:ext uri="{FF2B5EF4-FFF2-40B4-BE49-F238E27FC236}">
                <a16:creationId xmlns:a16="http://schemas.microsoft.com/office/drawing/2014/main" id="{64B053C9-F883-201D-09E1-A3F82F0217BA}"/>
              </a:ext>
            </a:extLst>
          </p:cNvPr>
          <p:cNvSpPr>
            <a:spLocks noGrp="1"/>
          </p:cNvSpPr>
          <p:nvPr>
            <p:ph idx="1"/>
          </p:nvPr>
        </p:nvSpPr>
        <p:spPr/>
        <p:txBody>
          <a:bodyPr/>
          <a:lstStyle/>
          <a:p>
            <a:pPr marL="514350" indent="-514350">
              <a:buFont typeface="+mj-lt"/>
              <a:buAutoNum type="arabicPeriod"/>
            </a:pPr>
            <a:endParaRPr lang="lv-LV" dirty="0"/>
          </a:p>
          <a:p>
            <a:pPr marL="514350" indent="-514350">
              <a:buAutoNum type="arabicPeriod"/>
            </a:pPr>
            <a:r>
              <a:rPr lang="lv-LV" dirty="0"/>
              <a:t>Jāiepazīstas ar piedāvātajām metrikām un jāizvēlas piemērotākās.</a:t>
            </a:r>
          </a:p>
          <a:p>
            <a:pPr marL="514350" indent="-514350">
              <a:buFont typeface="+mj-lt"/>
              <a:buAutoNum type="arabicPeriod"/>
            </a:pPr>
            <a:r>
              <a:rPr lang="lv-LV" dirty="0"/>
              <a:t>Ar </a:t>
            </a:r>
            <a:r>
              <a:rPr lang="lv-LV" dirty="0" err="1"/>
              <a:t>Python</a:t>
            </a:r>
            <a:r>
              <a:rPr lang="lv-LV" dirty="0"/>
              <a:t> palīdzību jānovērtē triju kandidātu (automātiski ģenerētu transkripciju) kvalitāte, salīdzinot tās ar referenci (manuāli sagatavoto transkripciju).</a:t>
            </a:r>
          </a:p>
          <a:p>
            <a:pPr marL="514350" indent="-514350">
              <a:buFont typeface="+mj-lt"/>
              <a:buAutoNum type="arabicPeriod"/>
            </a:pPr>
            <a:r>
              <a:rPr lang="lv-LV" dirty="0"/>
              <a:t>Subjektīvi jānovērtē kandidātu kvalitāte un jānoskaidro kvantitatīvo rādītāju </a:t>
            </a:r>
            <a:r>
              <a:rPr lang="lv-LV" dirty="0" err="1"/>
              <a:t>informatīvitāte</a:t>
            </a:r>
            <a:r>
              <a:rPr lang="lv-LV" dirty="0"/>
              <a:t>, salīdzinot tos ar šiem novērtējumiem.</a:t>
            </a:r>
          </a:p>
          <a:p>
            <a:pPr marL="514350" indent="-514350">
              <a:buAutoNum type="arabicPeriod"/>
            </a:pPr>
            <a:endParaRPr lang="en-LV" dirty="0"/>
          </a:p>
          <a:p>
            <a:pPr marL="514350" indent="-514350">
              <a:buAutoNum type="arabicPeriod"/>
            </a:pPr>
            <a:endParaRPr lang="en-LV" dirty="0"/>
          </a:p>
        </p:txBody>
      </p:sp>
    </p:spTree>
    <p:extLst>
      <p:ext uri="{BB962C8B-B14F-4D97-AF65-F5344CB8AC3E}">
        <p14:creationId xmlns:p14="http://schemas.microsoft.com/office/powerpoint/2010/main" val="2117308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823B-DA7D-A7D3-2799-477B05943649}"/>
              </a:ext>
            </a:extLst>
          </p:cNvPr>
          <p:cNvSpPr>
            <a:spLocks noGrp="1"/>
          </p:cNvSpPr>
          <p:nvPr>
            <p:ph type="title"/>
          </p:nvPr>
        </p:nvSpPr>
        <p:spPr/>
        <p:txBody>
          <a:bodyPr/>
          <a:lstStyle/>
          <a:p>
            <a:r>
              <a:rPr lang="en-LV" dirty="0"/>
              <a:t>Metrikas</a:t>
            </a:r>
          </a:p>
        </p:txBody>
      </p:sp>
      <p:sp>
        <p:nvSpPr>
          <p:cNvPr id="3" name="Content Placeholder 2">
            <a:extLst>
              <a:ext uri="{FF2B5EF4-FFF2-40B4-BE49-F238E27FC236}">
                <a16:creationId xmlns:a16="http://schemas.microsoft.com/office/drawing/2014/main" id="{EBFECFB8-1A2E-97E0-1BE9-6D84929B3199}"/>
              </a:ext>
            </a:extLst>
          </p:cNvPr>
          <p:cNvSpPr>
            <a:spLocks noGrp="1"/>
          </p:cNvSpPr>
          <p:nvPr>
            <p:ph idx="1"/>
          </p:nvPr>
        </p:nvSpPr>
        <p:spPr/>
        <p:txBody>
          <a:bodyPr>
            <a:normAutofit/>
          </a:bodyPr>
          <a:lstStyle/>
          <a:p>
            <a:pPr algn="l"/>
            <a:r>
              <a:rPr lang="lv-LV" b="0" i="0" u="none" strike="noStrike" dirty="0">
                <a:solidFill>
                  <a:srgbClr val="000000"/>
                </a:solidFill>
                <a:effectLst/>
              </a:rPr>
              <a:t>Es iepazinos ar WER, CER, MER, WIL, BLEU un ROUGE, kā arī ar semantikas līdzības pieeju. Noskaidrojot metrikas aprēķināšanas metodes, to pielietojuma mērķus un ierobežojumus, es izvēlējos </a:t>
            </a:r>
            <a:r>
              <a:rPr lang="lv-LV" b="1" i="0" u="none" strike="noStrike" dirty="0">
                <a:solidFill>
                  <a:srgbClr val="000000"/>
                </a:solidFill>
                <a:effectLst/>
              </a:rPr>
              <a:t>WER, CER un WIL.</a:t>
            </a:r>
          </a:p>
          <a:p>
            <a:pPr algn="l"/>
            <a:r>
              <a:rPr lang="lv-LV" b="0" i="0" u="none" strike="noStrike" dirty="0">
                <a:solidFill>
                  <a:srgbClr val="000000"/>
                </a:solidFill>
                <a:effectLst/>
              </a:rPr>
              <a:t>Šīs trīs metrikas ir vieglāk izmantojamas salīdzinājumos nekā semantikas līdzība, un tās sniedz diezgan informatīvus rezultātus. </a:t>
            </a:r>
            <a:r>
              <a:rPr lang="lv-LV" b="1" i="0" u="none" strike="noStrike" dirty="0">
                <a:solidFill>
                  <a:srgbClr val="000000"/>
                </a:solidFill>
                <a:effectLst/>
              </a:rPr>
              <a:t>WER un CER ir standarta rādītāji, savukārt WIL ir mazāk izplatīts</a:t>
            </a:r>
            <a:r>
              <a:rPr lang="lv-LV" b="0" i="0" u="none" strike="noStrike" dirty="0">
                <a:solidFill>
                  <a:srgbClr val="000000"/>
                </a:solidFill>
                <a:effectLst/>
              </a:rPr>
              <a:t>.</a:t>
            </a:r>
          </a:p>
          <a:p>
            <a:pPr algn="l"/>
            <a:r>
              <a:rPr lang="lv-LV" b="0" i="0" u="none" strike="noStrike" dirty="0">
                <a:solidFill>
                  <a:srgbClr val="000000"/>
                </a:solidFill>
                <a:effectLst/>
              </a:rPr>
              <a:t>Tā kā </a:t>
            </a:r>
            <a:r>
              <a:rPr lang="lv-LV" b="1" i="0" u="none" strike="noStrike" dirty="0">
                <a:solidFill>
                  <a:srgbClr val="000000"/>
                </a:solidFill>
                <a:effectLst/>
              </a:rPr>
              <a:t>WER un WIL stipri ietekmē punktuācija</a:t>
            </a:r>
            <a:r>
              <a:rPr lang="lv-LV" b="0" i="0" u="none" strike="noStrike" dirty="0">
                <a:solidFill>
                  <a:srgbClr val="000000"/>
                </a:solidFill>
                <a:effectLst/>
              </a:rPr>
              <a:t>, tika nolemts apskatīt divus gadījumus: tekstus ar pieturzīmēm un tekstus bez tām (vairāk par to būs prezentācijas turpinājumā).</a:t>
            </a:r>
          </a:p>
        </p:txBody>
      </p:sp>
    </p:spTree>
    <p:extLst>
      <p:ext uri="{BB962C8B-B14F-4D97-AF65-F5344CB8AC3E}">
        <p14:creationId xmlns:p14="http://schemas.microsoft.com/office/powerpoint/2010/main" val="1948872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9B4C2-83CB-6690-A9D6-0EF3125F7F6C}"/>
              </a:ext>
            </a:extLst>
          </p:cNvPr>
          <p:cNvSpPr>
            <a:spLocks noGrp="1"/>
          </p:cNvSpPr>
          <p:nvPr>
            <p:ph type="title"/>
          </p:nvPr>
        </p:nvSpPr>
        <p:spPr/>
        <p:txBody>
          <a:bodyPr/>
          <a:lstStyle/>
          <a:p>
            <a:r>
              <a:rPr lang="en-LV" dirty="0"/>
              <a:t>WER </a:t>
            </a:r>
            <a:r>
              <a:rPr lang="en-GB" dirty="0"/>
              <a:t>(Word Error Rate)</a:t>
            </a:r>
            <a:endParaRPr lang="en-LV" dirty="0"/>
          </a:p>
        </p:txBody>
      </p:sp>
      <p:sp>
        <p:nvSpPr>
          <p:cNvPr id="3" name="Content Placeholder 2">
            <a:extLst>
              <a:ext uri="{FF2B5EF4-FFF2-40B4-BE49-F238E27FC236}">
                <a16:creationId xmlns:a16="http://schemas.microsoft.com/office/drawing/2014/main" id="{894B0442-358A-7C3A-AE72-0F8D3CAF776D}"/>
              </a:ext>
            </a:extLst>
          </p:cNvPr>
          <p:cNvSpPr>
            <a:spLocks noGrp="1"/>
          </p:cNvSpPr>
          <p:nvPr>
            <p:ph idx="1"/>
          </p:nvPr>
        </p:nvSpPr>
        <p:spPr/>
        <p:txBody>
          <a:bodyPr>
            <a:normAutofit fontScale="92500" lnSpcReduction="20000"/>
          </a:bodyPr>
          <a:lstStyle/>
          <a:p>
            <a:r>
              <a:rPr lang="lv-LV" dirty="0"/>
              <a:t>WER  mēra, novērtējot katru vārdu vai </a:t>
            </a:r>
            <a:r>
              <a:rPr lang="lv-LV" dirty="0" err="1"/>
              <a:t>tokenu</a:t>
            </a:r>
            <a:r>
              <a:rPr lang="lv-LV" dirty="0"/>
              <a:t> kandidāta un references tekstā, un nosaka, vai tas ir lieks, trūkstošs vai aizvietots vārds. Šajās kategorijās ietilpstošo vārdu skaits tiek saskaitīts un dalīts ar vārdu skaitu oriģinālajā tekstā.</a:t>
            </a:r>
          </a:p>
          <a:p>
            <a:r>
              <a:rPr lang="lv-LV" dirty="0"/>
              <a:t>WER tiek izmantots gadījumos, kad vārdu pareizrakstība ir galvenais kritērijs, piemēram, video subtitru ģenerēšanā.</a:t>
            </a:r>
          </a:p>
          <a:p>
            <a:r>
              <a:rPr lang="lv-LV" dirty="0"/>
              <a:t>Viens no WER ierobežojumiem ir tā jutība pret sīkām izmaiņām, kas neietekmē nozīmi. Piemēram, salīdzinot “</a:t>
            </a:r>
            <a:r>
              <a:rPr lang="lv-LV" dirty="0" err="1"/>
              <a:t>is</a:t>
            </a:r>
            <a:r>
              <a:rPr lang="lv-LV" dirty="0"/>
              <a:t> </a:t>
            </a:r>
            <a:r>
              <a:rPr lang="lv-LV" dirty="0" err="1"/>
              <a:t>not</a:t>
            </a:r>
            <a:r>
              <a:rPr lang="lv-LV" dirty="0"/>
              <a:t>” un “</a:t>
            </a:r>
            <a:r>
              <a:rPr lang="lv-LV" dirty="0" err="1"/>
              <a:t>isn't</a:t>
            </a:r>
            <a:r>
              <a:rPr lang="lv-LV" dirty="0"/>
              <a:t>”, WER atpazīs divas kļūdas — </a:t>
            </a:r>
            <a:r>
              <a:rPr lang="lv-LV" dirty="0" err="1"/>
              <a:t>substitution</a:t>
            </a:r>
            <a:r>
              <a:rPr lang="lv-LV" dirty="0"/>
              <a:t> un </a:t>
            </a:r>
            <a:r>
              <a:rPr lang="lv-LV" dirty="0" err="1"/>
              <a:t>insertion</a:t>
            </a:r>
            <a:r>
              <a:rPr lang="lv-LV" dirty="0"/>
              <a:t>, lai gan nozīme ir identiska. Ja ASR modelis uztver ne tikai vārdus, bet arī pieturzīmes, WER var novērtēt kandidātu sliktāk, nekā tas patiesībā ir. Tas notiek tāpēc, ka tekstu </a:t>
            </a:r>
            <a:r>
              <a:rPr lang="lv-LV" dirty="0" err="1"/>
              <a:t>tokenizējot</a:t>
            </a:r>
            <a:r>
              <a:rPr lang="lv-LV" dirty="0"/>
              <a:t>, pieturzīmes tiek iekļautas </a:t>
            </a:r>
            <a:r>
              <a:rPr lang="lv-LV" dirty="0" err="1"/>
              <a:t>tokenos</a:t>
            </a:r>
            <a:r>
              <a:rPr lang="lv-LV" dirty="0"/>
              <a:t>. Piemēram, “Labdien!” un “Labdien.” pēc WER tiks novērtēti kā pilnīgi atšķirīgi, lai gan faktiskā nozīmes atšķirība ir minimāla.</a:t>
            </a:r>
            <a:endParaRPr lang="en-LV" dirty="0"/>
          </a:p>
        </p:txBody>
      </p:sp>
    </p:spTree>
    <p:extLst>
      <p:ext uri="{BB962C8B-B14F-4D97-AF65-F5344CB8AC3E}">
        <p14:creationId xmlns:p14="http://schemas.microsoft.com/office/powerpoint/2010/main" val="1015656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582D-0D1B-251B-4CB1-A636451D8A80}"/>
              </a:ext>
            </a:extLst>
          </p:cNvPr>
          <p:cNvSpPr>
            <a:spLocks noGrp="1"/>
          </p:cNvSpPr>
          <p:nvPr>
            <p:ph type="title"/>
          </p:nvPr>
        </p:nvSpPr>
        <p:spPr/>
        <p:txBody>
          <a:bodyPr/>
          <a:lstStyle/>
          <a:p>
            <a:r>
              <a:rPr lang="lv-LV" dirty="0"/>
              <a:t>CER (</a:t>
            </a:r>
            <a:r>
              <a:rPr lang="lv-LV" dirty="0" err="1"/>
              <a:t>Charecter</a:t>
            </a:r>
            <a:r>
              <a:rPr lang="lv-LV" dirty="0"/>
              <a:t> </a:t>
            </a:r>
            <a:r>
              <a:rPr lang="lv-LV" dirty="0" err="1"/>
              <a:t>Error</a:t>
            </a:r>
            <a:r>
              <a:rPr lang="lv-LV" dirty="0"/>
              <a:t> </a:t>
            </a:r>
            <a:r>
              <a:rPr lang="lv-LV" dirty="0" err="1"/>
              <a:t>Rate</a:t>
            </a:r>
            <a:r>
              <a:rPr lang="lv-LV" dirty="0"/>
              <a:t>)</a:t>
            </a:r>
            <a:endParaRPr lang="en-LV" dirty="0"/>
          </a:p>
        </p:txBody>
      </p:sp>
      <p:sp>
        <p:nvSpPr>
          <p:cNvPr id="3" name="Content Placeholder 2">
            <a:extLst>
              <a:ext uri="{FF2B5EF4-FFF2-40B4-BE49-F238E27FC236}">
                <a16:creationId xmlns:a16="http://schemas.microsoft.com/office/drawing/2014/main" id="{EFBDED63-4D9B-EBA1-806B-F9064FA81F9F}"/>
              </a:ext>
            </a:extLst>
          </p:cNvPr>
          <p:cNvSpPr>
            <a:spLocks noGrp="1"/>
          </p:cNvSpPr>
          <p:nvPr>
            <p:ph idx="1"/>
          </p:nvPr>
        </p:nvSpPr>
        <p:spPr/>
        <p:txBody>
          <a:bodyPr>
            <a:normAutofit fontScale="92500" lnSpcReduction="10000"/>
          </a:bodyPr>
          <a:lstStyle/>
          <a:p>
            <a:pPr marL="0" indent="0">
              <a:buNone/>
            </a:pPr>
            <a:endParaRPr lang="lv-LV" dirty="0"/>
          </a:p>
          <a:p>
            <a:r>
              <a:rPr lang="lv-LV" dirty="0"/>
              <a:t>CER tiek aprēķināts līdzīgi kā WER, tikai vārdu vai </a:t>
            </a:r>
            <a:r>
              <a:rPr lang="lv-LV" dirty="0" err="1"/>
              <a:t>tokenu</a:t>
            </a:r>
            <a:r>
              <a:rPr lang="lv-LV" dirty="0"/>
              <a:t> vietā tiek apskatītas zīmes — burti, cipari u.c.</a:t>
            </a:r>
          </a:p>
          <a:p>
            <a:r>
              <a:rPr lang="lv-LV" dirty="0"/>
              <a:t>CER ir noderīgs gadījumos, kad svarīgāka ir simbolu precizitāte, piemēram, burtu un ciparu virknēs, kā dokumentu numuri vai citi kodi. Dažām valodām, piemēram, ķīniešu vai korejiešu, CER var darboties labāk nekā WER valodas īpatnību dēļ.</a:t>
            </a:r>
          </a:p>
          <a:p>
            <a:r>
              <a:rPr lang="lv-LV" dirty="0"/>
              <a:t>CER ir skaitļošanas ziņā smagāks nekā WER, jo tiek analizēts katrs simbols, nevis atsevišķi vārdi vai </a:t>
            </a:r>
            <a:r>
              <a:rPr lang="lv-LV" dirty="0" err="1"/>
              <a:t>tokeni</a:t>
            </a:r>
            <a:r>
              <a:rPr lang="lv-LV" dirty="0"/>
              <a:t>. Turklāt CER nepievērš uzmanību semantikai, tāpēc tas var būt maldinošs — zems rādītājs ne vienmēr nozīmē, ka modeļa ģenerētais teksts būs viegli izlasāms un saprotams. </a:t>
            </a:r>
          </a:p>
          <a:p>
            <a:pPr marL="0" indent="0">
              <a:buNone/>
            </a:pPr>
            <a:endParaRPr lang="en-LV" dirty="0"/>
          </a:p>
        </p:txBody>
      </p:sp>
    </p:spTree>
    <p:extLst>
      <p:ext uri="{BB962C8B-B14F-4D97-AF65-F5344CB8AC3E}">
        <p14:creationId xmlns:p14="http://schemas.microsoft.com/office/powerpoint/2010/main" val="2604237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B3300-C36E-5864-1B78-75A5D1250109}"/>
              </a:ext>
            </a:extLst>
          </p:cNvPr>
          <p:cNvSpPr>
            <a:spLocks noGrp="1"/>
          </p:cNvSpPr>
          <p:nvPr>
            <p:ph type="title"/>
          </p:nvPr>
        </p:nvSpPr>
        <p:spPr/>
        <p:txBody>
          <a:bodyPr/>
          <a:lstStyle/>
          <a:p>
            <a:r>
              <a:rPr lang="lv-LV" dirty="0"/>
              <a:t>WIL (Word </a:t>
            </a:r>
            <a:r>
              <a:rPr lang="lv-LV" dirty="0" err="1"/>
              <a:t>Information</a:t>
            </a:r>
            <a:r>
              <a:rPr lang="lv-LV" dirty="0"/>
              <a:t> </a:t>
            </a:r>
            <a:r>
              <a:rPr lang="lv-LV" dirty="0" err="1"/>
              <a:t>Lost</a:t>
            </a:r>
            <a:r>
              <a:rPr lang="lv-LV" dirty="0"/>
              <a:t>)</a:t>
            </a:r>
            <a:endParaRPr lang="en-LV" dirty="0"/>
          </a:p>
        </p:txBody>
      </p:sp>
      <p:sp>
        <p:nvSpPr>
          <p:cNvPr id="3" name="Content Placeholder 2">
            <a:extLst>
              <a:ext uri="{FF2B5EF4-FFF2-40B4-BE49-F238E27FC236}">
                <a16:creationId xmlns:a16="http://schemas.microsoft.com/office/drawing/2014/main" id="{1B204EDA-F996-3534-6F47-11AFD4ED9773}"/>
              </a:ext>
            </a:extLst>
          </p:cNvPr>
          <p:cNvSpPr>
            <a:spLocks noGrp="1"/>
          </p:cNvSpPr>
          <p:nvPr>
            <p:ph idx="1"/>
          </p:nvPr>
        </p:nvSpPr>
        <p:spPr/>
        <p:txBody>
          <a:bodyPr>
            <a:normAutofit lnSpcReduction="10000"/>
          </a:bodyPr>
          <a:lstStyle/>
          <a:p>
            <a:pPr marL="0" indent="0">
              <a:buNone/>
            </a:pPr>
            <a:endParaRPr lang="lv-LV" dirty="0"/>
          </a:p>
          <a:p>
            <a:r>
              <a:rPr lang="lv-LV" dirty="0"/>
              <a:t>WIL attēlo, cik daudz informācijas, t.i., vārdu, ir pazaudēts, salīdzinot kandidāta tekstu ar referenci.</a:t>
            </a:r>
          </a:p>
          <a:p>
            <a:r>
              <a:rPr lang="lv-LV" dirty="0"/>
              <a:t>WIL koncentrējas uz informācijas saglabāšanu izejas tekstā, kas ir īpaši noderīgi, piemēram, stundu vai lekciju transkripcijās.</a:t>
            </a:r>
          </a:p>
          <a:p>
            <a:r>
              <a:rPr lang="lv-LV" dirty="0"/>
              <a:t>Tomēr WIL ir grūtāk interpretējams. Tam piemīt līdzīgas problēmas kā WER — tas joprojām ir stipri ietekmēts no vārdu formām un pieturzīmēm.</a:t>
            </a:r>
          </a:p>
          <a:p>
            <a:r>
              <a:rPr lang="lv-LV" dirty="0"/>
              <a:t>Salīdzinājumā ar WER, WIL mazāk </a:t>
            </a:r>
            <a:r>
              <a:rPr lang="lv-LV" dirty="0" err="1"/>
              <a:t>penalizē</a:t>
            </a:r>
            <a:r>
              <a:rPr lang="lv-LV" dirty="0"/>
              <a:t> vārdu kārtības izmaiņas, kas var būt gan pozitīva, gan negatīva īpašība.</a:t>
            </a:r>
          </a:p>
          <a:p>
            <a:pPr marL="0" indent="0">
              <a:buNone/>
            </a:pPr>
            <a:endParaRPr lang="lv-LV" dirty="0"/>
          </a:p>
          <a:p>
            <a:pPr marL="0" indent="0">
              <a:buNone/>
            </a:pPr>
            <a:endParaRPr lang="lv-LV" dirty="0"/>
          </a:p>
          <a:p>
            <a:pPr marL="0" indent="0">
              <a:buNone/>
            </a:pPr>
            <a:endParaRPr lang="en-LV" dirty="0"/>
          </a:p>
        </p:txBody>
      </p:sp>
    </p:spTree>
    <p:extLst>
      <p:ext uri="{BB962C8B-B14F-4D97-AF65-F5344CB8AC3E}">
        <p14:creationId xmlns:p14="http://schemas.microsoft.com/office/powerpoint/2010/main" val="548240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92B2-AEA2-1473-2547-0A78C71F3C6C}"/>
              </a:ext>
            </a:extLst>
          </p:cNvPr>
          <p:cNvSpPr>
            <a:spLocks noGrp="1"/>
          </p:cNvSpPr>
          <p:nvPr>
            <p:ph type="title"/>
          </p:nvPr>
        </p:nvSpPr>
        <p:spPr/>
        <p:txBody>
          <a:bodyPr/>
          <a:lstStyle/>
          <a:p>
            <a:r>
              <a:rPr lang="lv-LV" dirty="0">
                <a:solidFill>
                  <a:srgbClr val="000000"/>
                </a:solidFill>
              </a:rPr>
              <a:t>R</a:t>
            </a:r>
            <a:r>
              <a:rPr lang="lv-LV" sz="4400" b="0" i="0" u="none" strike="noStrike" dirty="0">
                <a:solidFill>
                  <a:srgbClr val="000000"/>
                </a:solidFill>
                <a:effectLst/>
              </a:rPr>
              <a:t>isinājuma</a:t>
            </a:r>
            <a:r>
              <a:rPr lang="en-LV" dirty="0"/>
              <a:t> struktūra</a:t>
            </a:r>
          </a:p>
        </p:txBody>
      </p:sp>
      <p:sp>
        <p:nvSpPr>
          <p:cNvPr id="3" name="Content Placeholder 2">
            <a:extLst>
              <a:ext uri="{FF2B5EF4-FFF2-40B4-BE49-F238E27FC236}">
                <a16:creationId xmlns:a16="http://schemas.microsoft.com/office/drawing/2014/main" id="{10C2A5D6-1FB9-00F0-2854-DF1066C06AA8}"/>
              </a:ext>
            </a:extLst>
          </p:cNvPr>
          <p:cNvSpPr>
            <a:spLocks noGrp="1"/>
          </p:cNvSpPr>
          <p:nvPr>
            <p:ph idx="1"/>
          </p:nvPr>
        </p:nvSpPr>
        <p:spPr/>
        <p:txBody>
          <a:bodyPr>
            <a:normAutofit lnSpcReduction="10000"/>
          </a:bodyPr>
          <a:lstStyle/>
          <a:p>
            <a:pPr marL="0" indent="0" algn="l">
              <a:buNone/>
            </a:pPr>
            <a:r>
              <a:rPr lang="lv-LV" sz="2400" b="0" i="0" u="none" strike="noStrike" dirty="0">
                <a:solidFill>
                  <a:srgbClr val="000000"/>
                </a:solidFill>
                <a:effectLst/>
              </a:rPr>
              <a:t>Uzdevuma risinājums tika organizēts sekojoši:</a:t>
            </a:r>
          </a:p>
          <a:p>
            <a:pPr algn="l">
              <a:buFont typeface="Arial" panose="020B0604020202020204" pitchFamily="34" charset="0"/>
              <a:buChar char="•"/>
            </a:pPr>
            <a:r>
              <a:rPr lang="lv-LV" sz="2400" b="1" i="0" u="none" strike="noStrike" dirty="0" err="1">
                <a:solidFill>
                  <a:srgbClr val="000000"/>
                </a:solidFill>
                <a:effectLst/>
              </a:rPr>
              <a:t>repo</a:t>
            </a:r>
            <a:r>
              <a:rPr lang="lv-LV" sz="2400" b="0" i="0" u="none" strike="noStrike" dirty="0">
                <a:solidFill>
                  <a:srgbClr val="000000"/>
                </a:solidFill>
                <a:effectLst/>
              </a:rPr>
              <a:t> – projekta saknes mape</a:t>
            </a:r>
          </a:p>
          <a:p>
            <a:pPr algn="l">
              <a:buFont typeface="Arial" panose="020B0604020202020204" pitchFamily="34" charset="0"/>
              <a:buChar char="•"/>
            </a:pPr>
            <a:r>
              <a:rPr lang="lv-LV" sz="2400" b="1" i="0" u="none" strike="noStrike" dirty="0" err="1">
                <a:solidFill>
                  <a:srgbClr val="000000"/>
                </a:solidFill>
                <a:effectLst/>
              </a:rPr>
              <a:t>data</a:t>
            </a:r>
            <a:r>
              <a:rPr lang="lv-LV" sz="2400" b="0" i="0" u="none" strike="noStrike" dirty="0">
                <a:solidFill>
                  <a:srgbClr val="000000"/>
                </a:solidFill>
                <a:effectLst/>
              </a:rPr>
              <a:t> – mape ar dotajiem teksta failiem</a:t>
            </a:r>
          </a:p>
          <a:p>
            <a:pPr algn="l">
              <a:buFont typeface="Arial" panose="020B0604020202020204" pitchFamily="34" charset="0"/>
              <a:buChar char="•"/>
            </a:pPr>
            <a:r>
              <a:rPr lang="lv-LV" sz="2400" b="1" i="0" u="none" strike="noStrike" dirty="0" err="1">
                <a:solidFill>
                  <a:srgbClr val="000000"/>
                </a:solidFill>
                <a:effectLst/>
              </a:rPr>
              <a:t>src</a:t>
            </a:r>
            <a:r>
              <a:rPr lang="lv-LV" sz="2400" b="0" i="0" u="none" strike="noStrike" dirty="0">
                <a:solidFill>
                  <a:srgbClr val="000000"/>
                </a:solidFill>
                <a:effectLst/>
              </a:rPr>
              <a:t> – mape ar failiem, kas satur visas uzrakstītās funkcijas un objektus</a:t>
            </a:r>
          </a:p>
          <a:p>
            <a:pPr algn="l">
              <a:buFont typeface="Arial" panose="020B0604020202020204" pitchFamily="34" charset="0"/>
              <a:buChar char="•"/>
            </a:pPr>
            <a:r>
              <a:rPr lang="lv-LV" sz="2400" b="1" i="0" u="none" strike="noStrike" dirty="0" err="1">
                <a:solidFill>
                  <a:srgbClr val="000000"/>
                </a:solidFill>
                <a:effectLst/>
              </a:rPr>
              <a:t>main.py</a:t>
            </a:r>
            <a:r>
              <a:rPr lang="lv-LV" sz="2400" b="0" i="0" u="none" strike="noStrike" dirty="0">
                <a:solidFill>
                  <a:srgbClr val="000000"/>
                </a:solidFill>
                <a:effectLst/>
              </a:rPr>
              <a:t> – koda fails, kurā tiek veikti galvenie procesi</a:t>
            </a:r>
          </a:p>
          <a:p>
            <a:pPr algn="l">
              <a:buFont typeface="Arial" panose="020B0604020202020204" pitchFamily="34" charset="0"/>
              <a:buChar char="•"/>
            </a:pPr>
            <a:r>
              <a:rPr lang="lv-LV" sz="2400" b="1" i="0" u="none" strike="noStrike" dirty="0">
                <a:solidFill>
                  <a:srgbClr val="000000"/>
                </a:solidFill>
                <a:effectLst/>
              </a:rPr>
              <a:t>info</a:t>
            </a:r>
            <a:r>
              <a:rPr lang="lv-LV" sz="2400" b="0" i="0" u="none" strike="noStrike" dirty="0">
                <a:solidFill>
                  <a:srgbClr val="000000"/>
                </a:solidFill>
                <a:effectLst/>
              </a:rPr>
              <a:t> – mape ar subjektīvo novērtējumu un metriku </a:t>
            </a:r>
            <a:r>
              <a:rPr lang="lv-LV" sz="2400" b="0" i="0" u="none" strike="noStrike" dirty="0" err="1">
                <a:solidFill>
                  <a:srgbClr val="000000"/>
                </a:solidFill>
                <a:effectLst/>
              </a:rPr>
              <a:t>informatīvitātes</a:t>
            </a:r>
            <a:r>
              <a:rPr lang="lv-LV" sz="2400" b="0" i="0" u="none" strike="noStrike" dirty="0">
                <a:solidFill>
                  <a:srgbClr val="000000"/>
                </a:solidFill>
                <a:effectLst/>
              </a:rPr>
              <a:t> aprakstu</a:t>
            </a:r>
          </a:p>
          <a:p>
            <a:pPr algn="l">
              <a:buFont typeface="Arial" panose="020B0604020202020204" pitchFamily="34" charset="0"/>
              <a:buChar char="•"/>
            </a:pPr>
            <a:r>
              <a:rPr lang="lv-LV" sz="2400" b="1" i="0" u="none" strike="noStrike" dirty="0" err="1">
                <a:solidFill>
                  <a:srgbClr val="000000"/>
                </a:solidFill>
                <a:effectLst/>
              </a:rPr>
              <a:t>output</a:t>
            </a:r>
            <a:r>
              <a:rPr lang="lv-LV" sz="2400" b="0" i="0" u="none" strike="noStrike" dirty="0">
                <a:solidFill>
                  <a:srgbClr val="000000"/>
                </a:solidFill>
                <a:effectLst/>
              </a:rPr>
              <a:t> – mape ar izveidotajiem failiem, t.i., marķētajiem failiem un metriku rezultātiem</a:t>
            </a:r>
          </a:p>
          <a:p>
            <a:pPr algn="l">
              <a:buFont typeface="Arial" panose="020B0604020202020204" pitchFamily="34" charset="0"/>
              <a:buChar char="•"/>
            </a:pPr>
            <a:r>
              <a:rPr lang="lv-LV" sz="2400" b="1" i="0" u="none" strike="noStrike" dirty="0" err="1">
                <a:solidFill>
                  <a:srgbClr val="000000"/>
                </a:solidFill>
                <a:effectLst/>
              </a:rPr>
              <a:t>README.md</a:t>
            </a:r>
            <a:r>
              <a:rPr lang="lv-LV" sz="2400" b="0" i="0" u="none" strike="noStrike" dirty="0">
                <a:solidFill>
                  <a:srgbClr val="000000"/>
                </a:solidFill>
                <a:effectLst/>
              </a:rPr>
              <a:t> – projekta apraksts un palaišanas instrukcija</a:t>
            </a:r>
          </a:p>
          <a:p>
            <a:pPr algn="l">
              <a:buFont typeface="Arial" panose="020B0604020202020204" pitchFamily="34" charset="0"/>
              <a:buChar char="•"/>
            </a:pPr>
            <a:r>
              <a:rPr lang="lv-LV" sz="2400" b="1" i="0" u="none" strike="noStrike" dirty="0">
                <a:solidFill>
                  <a:srgbClr val="000000"/>
                </a:solidFill>
                <a:effectLst/>
              </a:rPr>
              <a:t>…</a:t>
            </a:r>
            <a:r>
              <a:rPr lang="lv-LV" sz="2400" b="0" i="0" u="none" strike="noStrike" dirty="0">
                <a:solidFill>
                  <a:srgbClr val="000000"/>
                </a:solidFill>
                <a:effectLst/>
              </a:rPr>
              <a:t> – pārējie faili, piemēram, .</a:t>
            </a:r>
            <a:r>
              <a:rPr lang="lv-LV" sz="2400" b="0" i="0" u="none" strike="noStrike" dirty="0" err="1">
                <a:solidFill>
                  <a:srgbClr val="000000"/>
                </a:solidFill>
                <a:effectLst/>
              </a:rPr>
              <a:t>gitignore</a:t>
            </a:r>
            <a:r>
              <a:rPr lang="lv-LV" sz="2400" b="0" i="0" u="none" strike="noStrike" dirty="0">
                <a:solidFill>
                  <a:srgbClr val="000000"/>
                </a:solidFill>
                <a:effectLst/>
              </a:rPr>
              <a:t>, </a:t>
            </a:r>
            <a:r>
              <a:rPr lang="lv-LV" sz="2400" b="0" i="0" u="none" strike="noStrike" dirty="0" err="1">
                <a:solidFill>
                  <a:srgbClr val="000000"/>
                </a:solidFill>
                <a:effectLst/>
              </a:rPr>
              <a:t>requirements.txt</a:t>
            </a:r>
            <a:r>
              <a:rPr lang="lv-LV" sz="2400" b="0" i="0" u="none" strike="noStrike" dirty="0">
                <a:solidFill>
                  <a:srgbClr val="000000"/>
                </a:solidFill>
                <a:effectLst/>
              </a:rPr>
              <a:t> utt.</a:t>
            </a:r>
          </a:p>
          <a:p>
            <a:pPr marL="457200" lvl="1" indent="0">
              <a:buNone/>
            </a:pPr>
            <a:endParaRPr lang="en-LV" sz="2000" dirty="0"/>
          </a:p>
        </p:txBody>
      </p:sp>
    </p:spTree>
    <p:extLst>
      <p:ext uri="{BB962C8B-B14F-4D97-AF65-F5344CB8AC3E}">
        <p14:creationId xmlns:p14="http://schemas.microsoft.com/office/powerpoint/2010/main" val="105806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166C-78C8-1BE3-597D-89D1D94A09D4}"/>
              </a:ext>
            </a:extLst>
          </p:cNvPr>
          <p:cNvSpPr>
            <a:spLocks noGrp="1"/>
          </p:cNvSpPr>
          <p:nvPr>
            <p:ph type="title"/>
          </p:nvPr>
        </p:nvSpPr>
        <p:spPr/>
        <p:txBody>
          <a:bodyPr/>
          <a:lstStyle/>
          <a:p>
            <a:r>
              <a:rPr lang="en-LV" dirty="0"/>
              <a:t>Metriku noteikšana (main.py)</a:t>
            </a:r>
          </a:p>
        </p:txBody>
      </p:sp>
      <p:sp>
        <p:nvSpPr>
          <p:cNvPr id="3" name="Content Placeholder 2">
            <a:extLst>
              <a:ext uri="{FF2B5EF4-FFF2-40B4-BE49-F238E27FC236}">
                <a16:creationId xmlns:a16="http://schemas.microsoft.com/office/drawing/2014/main" id="{CFA98482-1BD9-5BB5-1C6E-540F8CB93DF2}"/>
              </a:ext>
            </a:extLst>
          </p:cNvPr>
          <p:cNvSpPr>
            <a:spLocks noGrp="1"/>
          </p:cNvSpPr>
          <p:nvPr>
            <p:ph idx="1"/>
          </p:nvPr>
        </p:nvSpPr>
        <p:spPr/>
        <p:txBody>
          <a:bodyPr>
            <a:normAutofit/>
          </a:bodyPr>
          <a:lstStyle/>
          <a:p>
            <a:pPr algn="l"/>
            <a:r>
              <a:rPr lang="lv-LV" b="0" i="0" u="none" strike="noStrike" dirty="0">
                <a:solidFill>
                  <a:srgbClr val="000000"/>
                </a:solidFill>
                <a:effectLst/>
              </a:rPr>
              <a:t>Pirmsapstrādei bija definēta funkcija </a:t>
            </a:r>
            <a:r>
              <a:rPr lang="lv-LV" b="1" i="0" u="none" strike="noStrike" dirty="0" err="1">
                <a:solidFill>
                  <a:srgbClr val="000000"/>
                </a:solidFill>
                <a:effectLst/>
              </a:rPr>
              <a:t>basic_prep</a:t>
            </a:r>
            <a:r>
              <a:rPr lang="lv-LV" b="1" i="0" u="none" strike="noStrike" dirty="0">
                <a:solidFill>
                  <a:srgbClr val="000000"/>
                </a:solidFill>
                <a:effectLst/>
              </a:rPr>
              <a:t>(</a:t>
            </a:r>
            <a:r>
              <a:rPr lang="lv-LV" b="1" i="0" u="none" strike="noStrike" dirty="0" err="1">
                <a:solidFill>
                  <a:srgbClr val="000000"/>
                </a:solidFill>
                <a:effectLst/>
              </a:rPr>
              <a:t>text</a:t>
            </a:r>
            <a:r>
              <a:rPr lang="lv-LV" b="1" i="0" u="none" strike="noStrike" dirty="0">
                <a:solidFill>
                  <a:srgbClr val="000000"/>
                </a:solidFill>
                <a:effectLst/>
              </a:rPr>
              <a:t>, </a:t>
            </a:r>
            <a:r>
              <a:rPr lang="lv-LV" b="1" i="0" u="none" strike="noStrike" dirty="0" err="1">
                <a:solidFill>
                  <a:srgbClr val="000000"/>
                </a:solidFill>
                <a:effectLst/>
              </a:rPr>
              <a:t>rem_punct</a:t>
            </a:r>
            <a:r>
              <a:rPr lang="lv-LV" b="1" i="0" u="none" strike="noStrike" dirty="0">
                <a:solidFill>
                  <a:srgbClr val="000000"/>
                </a:solidFill>
                <a:effectLst/>
              </a:rPr>
              <a:t>=</a:t>
            </a:r>
            <a:r>
              <a:rPr lang="lv-LV" b="1" i="0" u="none" strike="noStrike" dirty="0" err="1">
                <a:solidFill>
                  <a:srgbClr val="000000"/>
                </a:solidFill>
                <a:effectLst/>
              </a:rPr>
              <a:t>False</a:t>
            </a:r>
            <a:r>
              <a:rPr lang="lv-LV" b="1" i="0" u="none" strike="noStrike" dirty="0">
                <a:solidFill>
                  <a:srgbClr val="000000"/>
                </a:solidFill>
                <a:effectLst/>
              </a:rPr>
              <a:t>)</a:t>
            </a:r>
            <a:r>
              <a:rPr lang="lv-LV" b="0" i="0" u="none" strike="noStrike" dirty="0">
                <a:solidFill>
                  <a:srgbClr val="000000"/>
                </a:solidFill>
                <a:effectLst/>
              </a:rPr>
              <a:t>, kas normalizē pieturzīmes un atstarpes, pārveido tekstu par maziem burtiem un, pēc izvēles, noņem visas pieturzīmes.</a:t>
            </a:r>
          </a:p>
          <a:p>
            <a:pPr algn="l"/>
            <a:r>
              <a:rPr lang="lv-LV" b="0" i="0" u="none" strike="noStrike" dirty="0">
                <a:solidFill>
                  <a:srgbClr val="000000"/>
                </a:solidFill>
                <a:effectLst/>
              </a:rPr>
              <a:t>Visu trīs metriku novērtēšanai tika izmantota </a:t>
            </a:r>
            <a:r>
              <a:rPr lang="lv-LV" b="0" i="0" u="none" strike="noStrike" dirty="0" err="1">
                <a:solidFill>
                  <a:srgbClr val="000000"/>
                </a:solidFill>
                <a:effectLst/>
              </a:rPr>
              <a:t>pakotne</a:t>
            </a:r>
            <a:r>
              <a:rPr lang="lv-LV" b="0" i="0" u="none" strike="noStrike" dirty="0">
                <a:solidFill>
                  <a:srgbClr val="000000"/>
                </a:solidFill>
                <a:effectLst/>
              </a:rPr>
              <a:t> </a:t>
            </a:r>
            <a:r>
              <a:rPr lang="lv-LV" b="1" i="0" u="none" strike="noStrike" dirty="0" err="1">
                <a:solidFill>
                  <a:srgbClr val="000000"/>
                </a:solidFill>
                <a:effectLst/>
              </a:rPr>
              <a:t>jiwer</a:t>
            </a:r>
            <a:r>
              <a:rPr lang="lv-LV" b="0" i="0" u="none" strike="noStrike" dirty="0">
                <a:solidFill>
                  <a:srgbClr val="000000"/>
                </a:solidFill>
                <a:effectLst/>
              </a:rPr>
              <a:t>.</a:t>
            </a:r>
          </a:p>
          <a:p>
            <a:pPr algn="l"/>
            <a:r>
              <a:rPr lang="lv-LV" b="0" i="0" u="none" strike="noStrike" dirty="0">
                <a:solidFill>
                  <a:srgbClr val="000000"/>
                </a:solidFill>
                <a:effectLst/>
              </a:rPr>
              <a:t>Tā kā visi modeļi ģenerē tekstu ar pieturzīmēm, korektāk būtu novērtēt kandidātus, atstājot punktuāciju. Tomēr tas var radīt maldinošus metriku rezultātus, tāpēc tika nolemts novērtēt </a:t>
            </a:r>
            <a:r>
              <a:rPr lang="lv-LV" i="0" u="none" strike="noStrike" dirty="0">
                <a:solidFill>
                  <a:srgbClr val="000000"/>
                </a:solidFill>
                <a:effectLst/>
              </a:rPr>
              <a:t>WER, CER un WIL </a:t>
            </a:r>
            <a:r>
              <a:rPr lang="lv-LV" b="0" i="0" u="none" strike="noStrike" dirty="0">
                <a:solidFill>
                  <a:srgbClr val="000000"/>
                </a:solidFill>
                <a:effectLst/>
              </a:rPr>
              <a:t>rādītājus tekstiem gan ar punktuāciju, gan bez tās.</a:t>
            </a:r>
          </a:p>
        </p:txBody>
      </p:sp>
    </p:spTree>
    <p:extLst>
      <p:ext uri="{BB962C8B-B14F-4D97-AF65-F5344CB8AC3E}">
        <p14:creationId xmlns:p14="http://schemas.microsoft.com/office/powerpoint/2010/main" val="2986726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477A-29F4-5E3F-30E0-1422006300FA}"/>
              </a:ext>
            </a:extLst>
          </p:cNvPr>
          <p:cNvSpPr>
            <a:spLocks noGrp="1"/>
          </p:cNvSpPr>
          <p:nvPr>
            <p:ph type="title"/>
          </p:nvPr>
        </p:nvSpPr>
        <p:spPr/>
        <p:txBody>
          <a:bodyPr/>
          <a:lstStyle/>
          <a:p>
            <a:r>
              <a:rPr lang="en-LV" dirty="0"/>
              <a:t>Metriku rezultāti (output/score_with*.csv)</a:t>
            </a:r>
          </a:p>
        </p:txBody>
      </p:sp>
      <p:graphicFrame>
        <p:nvGraphicFramePr>
          <p:cNvPr id="5" name="Content Placeholder 4">
            <a:extLst>
              <a:ext uri="{FF2B5EF4-FFF2-40B4-BE49-F238E27FC236}">
                <a16:creationId xmlns:a16="http://schemas.microsoft.com/office/drawing/2014/main" id="{C45CC9C7-06DE-AB37-8047-E379ADB2147B}"/>
              </a:ext>
            </a:extLst>
          </p:cNvPr>
          <p:cNvGraphicFramePr>
            <a:graphicFrameLocks noGrp="1"/>
          </p:cNvGraphicFramePr>
          <p:nvPr>
            <p:ph idx="1"/>
            <p:extLst>
              <p:ext uri="{D42A27DB-BD31-4B8C-83A1-F6EECF244321}">
                <p14:modId xmlns:p14="http://schemas.microsoft.com/office/powerpoint/2010/main" val="401584298"/>
              </p:ext>
            </p:extLst>
          </p:nvPr>
        </p:nvGraphicFramePr>
        <p:xfrm>
          <a:off x="1261418" y="2097258"/>
          <a:ext cx="9669163" cy="3113905"/>
        </p:xfrm>
        <a:graphic>
          <a:graphicData uri="http://schemas.openxmlformats.org/drawingml/2006/table">
            <a:tbl>
              <a:tblPr/>
              <a:tblGrid>
                <a:gridCol w="1381309">
                  <a:extLst>
                    <a:ext uri="{9D8B030D-6E8A-4147-A177-3AD203B41FA5}">
                      <a16:colId xmlns:a16="http://schemas.microsoft.com/office/drawing/2014/main" val="2350497635"/>
                    </a:ext>
                  </a:extLst>
                </a:gridCol>
                <a:gridCol w="1381309">
                  <a:extLst>
                    <a:ext uri="{9D8B030D-6E8A-4147-A177-3AD203B41FA5}">
                      <a16:colId xmlns:a16="http://schemas.microsoft.com/office/drawing/2014/main" val="3553326538"/>
                    </a:ext>
                  </a:extLst>
                </a:gridCol>
                <a:gridCol w="1381309">
                  <a:extLst>
                    <a:ext uri="{9D8B030D-6E8A-4147-A177-3AD203B41FA5}">
                      <a16:colId xmlns:a16="http://schemas.microsoft.com/office/drawing/2014/main" val="2067095873"/>
                    </a:ext>
                  </a:extLst>
                </a:gridCol>
                <a:gridCol w="1381309">
                  <a:extLst>
                    <a:ext uri="{9D8B030D-6E8A-4147-A177-3AD203B41FA5}">
                      <a16:colId xmlns:a16="http://schemas.microsoft.com/office/drawing/2014/main" val="4196663281"/>
                    </a:ext>
                  </a:extLst>
                </a:gridCol>
                <a:gridCol w="1381309">
                  <a:extLst>
                    <a:ext uri="{9D8B030D-6E8A-4147-A177-3AD203B41FA5}">
                      <a16:colId xmlns:a16="http://schemas.microsoft.com/office/drawing/2014/main" val="3467562378"/>
                    </a:ext>
                  </a:extLst>
                </a:gridCol>
                <a:gridCol w="1381309">
                  <a:extLst>
                    <a:ext uri="{9D8B030D-6E8A-4147-A177-3AD203B41FA5}">
                      <a16:colId xmlns:a16="http://schemas.microsoft.com/office/drawing/2014/main" val="4105829799"/>
                    </a:ext>
                  </a:extLst>
                </a:gridCol>
                <a:gridCol w="1381309">
                  <a:extLst>
                    <a:ext uri="{9D8B030D-6E8A-4147-A177-3AD203B41FA5}">
                      <a16:colId xmlns:a16="http://schemas.microsoft.com/office/drawing/2014/main" val="617298525"/>
                    </a:ext>
                  </a:extLst>
                </a:gridCol>
              </a:tblGrid>
              <a:tr h="622781">
                <a:tc rowSpan="2">
                  <a:txBody>
                    <a:bodyPr/>
                    <a:lstStyle/>
                    <a:p>
                      <a:pPr algn="ctr" fontAlgn="b"/>
                      <a:endParaRPr lang="en-LV"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b"/>
                      <a:r>
                        <a:rPr lang="en-GB" sz="2400" b="0" i="0" u="none" strike="noStrike" dirty="0" err="1">
                          <a:solidFill>
                            <a:srgbClr val="000000"/>
                          </a:solidFill>
                          <a:effectLst/>
                          <a:latin typeface="Calibri" panose="020F0502020204030204" pitchFamily="34" charset="0"/>
                        </a:rPr>
                        <a:t>Ar</a:t>
                      </a:r>
                      <a:r>
                        <a:rPr lang="en-GB" sz="2400" b="0" i="0" u="none" strike="noStrike" dirty="0">
                          <a:solidFill>
                            <a:srgbClr val="000000"/>
                          </a:solidFill>
                          <a:effectLst/>
                          <a:latin typeface="Calibri" panose="020F0502020204030204" pitchFamily="34" charset="0"/>
                        </a:rPr>
                        <a:t> </a:t>
                      </a:r>
                      <a:r>
                        <a:rPr lang="en-GB" sz="2400" b="0" i="0" u="none" strike="noStrike" dirty="0" err="1">
                          <a:solidFill>
                            <a:srgbClr val="000000"/>
                          </a:solidFill>
                          <a:effectLst/>
                          <a:latin typeface="Calibri" panose="020F0502020204030204" pitchFamily="34" charset="0"/>
                        </a:rPr>
                        <a:t>punktuāciju</a:t>
                      </a:r>
                      <a:r>
                        <a:rPr lang="en-GB" sz="2400" b="0" i="0" u="none" strike="noStrike" dirty="0">
                          <a:solidFill>
                            <a:srgbClr val="000000"/>
                          </a:solidFill>
                          <a:effectLst/>
                          <a:latin typeface="Calibri" panose="020F0502020204030204"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GB" sz="12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GB" sz="12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b"/>
                      <a:r>
                        <a:rPr lang="en-GB" sz="2400" b="0" i="0" u="none" strike="noStrike" dirty="0">
                          <a:solidFill>
                            <a:srgbClr val="000000"/>
                          </a:solidFill>
                          <a:effectLst/>
                          <a:latin typeface="Calibri" panose="020F0502020204030204" pitchFamily="34" charset="0"/>
                        </a:rPr>
                        <a:t>Bez </a:t>
                      </a:r>
                      <a:r>
                        <a:rPr lang="en-GB" sz="2400" b="0" i="0" u="none" strike="noStrike" dirty="0" err="1">
                          <a:solidFill>
                            <a:srgbClr val="000000"/>
                          </a:solidFill>
                          <a:effectLst/>
                          <a:latin typeface="Calibri" panose="020F0502020204030204" pitchFamily="34" charset="0"/>
                        </a:rPr>
                        <a:t>punktuācijas</a:t>
                      </a:r>
                      <a:endParaRPr lang="en-GB"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GB" sz="12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GB" sz="12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29658"/>
                  </a:ext>
                </a:extLst>
              </a:tr>
              <a:tr h="622781">
                <a:tc vMerge="1">
                  <a:txBody>
                    <a:bodyPr/>
                    <a:lstStyle/>
                    <a:p>
                      <a:pPr algn="ctr" fontAlgn="b"/>
                      <a:endParaRPr lang="en-LV"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GB" sz="2400" b="0" i="0" u="none" strike="noStrike" dirty="0">
                          <a:solidFill>
                            <a:srgbClr val="000000"/>
                          </a:solidFill>
                          <a:effectLst/>
                          <a:latin typeface="Calibri" panose="020F0502020204030204" pitchFamily="34" charset="0"/>
                        </a:rPr>
                        <a:t>auto-1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GB" sz="2400" b="0" i="0" u="none" strike="noStrike" dirty="0">
                          <a:solidFill>
                            <a:srgbClr val="000000"/>
                          </a:solidFill>
                          <a:effectLst/>
                          <a:latin typeface="Calibri" panose="020F0502020204030204" pitchFamily="34" charset="0"/>
                        </a:rPr>
                        <a:t>auto-2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2400" b="0" i="0" u="none" strike="noStrike" dirty="0">
                          <a:solidFill>
                            <a:srgbClr val="000000"/>
                          </a:solidFill>
                          <a:effectLst/>
                          <a:latin typeface="Calibri" panose="020F0502020204030204" pitchFamily="34" charset="0"/>
                        </a:rPr>
                        <a:t>auto-3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b"/>
                      <a:r>
                        <a:rPr lang="en-GB" sz="2400" b="0" i="0" u="none" strike="noStrike" dirty="0">
                          <a:solidFill>
                            <a:srgbClr val="000000"/>
                          </a:solidFill>
                          <a:effectLst/>
                          <a:latin typeface="Calibri" panose="020F0502020204030204" pitchFamily="34" charset="0"/>
                        </a:rPr>
                        <a:t>auto-1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GB" sz="2400" b="0" i="0" u="none" strike="noStrike" dirty="0">
                          <a:solidFill>
                            <a:srgbClr val="000000"/>
                          </a:solidFill>
                          <a:effectLst/>
                          <a:latin typeface="Calibri" panose="020F0502020204030204" pitchFamily="34" charset="0"/>
                        </a:rPr>
                        <a:t>auto-2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2400" b="0" i="0" u="none" strike="noStrike" dirty="0">
                          <a:solidFill>
                            <a:srgbClr val="000000"/>
                          </a:solidFill>
                          <a:effectLst/>
                          <a:latin typeface="Calibri" panose="020F0502020204030204" pitchFamily="34" charset="0"/>
                        </a:rPr>
                        <a:t>auto-3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72388843"/>
                  </a:ext>
                </a:extLst>
              </a:tr>
              <a:tr h="622781">
                <a:tc>
                  <a:txBody>
                    <a:bodyPr/>
                    <a:lstStyle/>
                    <a:p>
                      <a:pPr algn="ctr" fontAlgn="b"/>
                      <a:r>
                        <a:rPr lang="en-GB" sz="2400" b="0" i="0" u="none" strike="noStrike">
                          <a:solidFill>
                            <a:srgbClr val="000000"/>
                          </a:solidFill>
                          <a:effectLst/>
                          <a:latin typeface="Calibri" panose="020F0502020204030204" pitchFamily="34" charset="0"/>
                        </a:rPr>
                        <a:t>WER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LV" sz="2400" b="0" i="0" u="none" strike="noStrike" dirty="0">
                          <a:solidFill>
                            <a:srgbClr val="000000"/>
                          </a:solidFill>
                          <a:effectLst/>
                          <a:latin typeface="Calibri" panose="020F0502020204030204" pitchFamily="34" charset="0"/>
                        </a:rPr>
                        <a:t>0.3316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0.0952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0.1276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0.2772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0.0272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0.0952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953091504"/>
                  </a:ext>
                </a:extLst>
              </a:tr>
              <a:tr h="622781">
                <a:tc>
                  <a:txBody>
                    <a:bodyPr/>
                    <a:lstStyle/>
                    <a:p>
                      <a:pPr algn="ctr" fontAlgn="b"/>
                      <a:r>
                        <a:rPr lang="en-GB" sz="2400" b="0" i="0" u="none" strike="noStrike">
                          <a:solidFill>
                            <a:srgbClr val="000000"/>
                          </a:solidFill>
                          <a:effectLst/>
                          <a:latin typeface="Calibri" panose="020F0502020204030204" pitchFamily="34" charset="0"/>
                        </a:rPr>
                        <a:t>CER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LV" sz="2400" b="0" i="0" u="none" strike="noStrike" dirty="0">
                          <a:solidFill>
                            <a:srgbClr val="000000"/>
                          </a:solidFill>
                          <a:effectLst/>
                          <a:latin typeface="Calibri" panose="020F0502020204030204" pitchFamily="34" charset="0"/>
                        </a:rPr>
                        <a:t>0.0819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0.0221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0.038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0.0328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56558045"/>
                  </a:ext>
                </a:extLst>
              </a:tr>
              <a:tr h="622781">
                <a:tc>
                  <a:txBody>
                    <a:bodyPr/>
                    <a:lstStyle/>
                    <a:p>
                      <a:pPr algn="ctr" fontAlgn="b"/>
                      <a:r>
                        <a:rPr lang="en-GB" sz="2400" b="0" i="0" u="none" strike="noStrike">
                          <a:solidFill>
                            <a:srgbClr val="000000"/>
                          </a:solidFill>
                          <a:effectLst/>
                          <a:latin typeface="Calibri" panose="020F0502020204030204" pitchFamily="34" charset="0"/>
                        </a:rPr>
                        <a:t>WIL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LV" sz="2400" b="0" i="0" u="none" strike="noStrike" dirty="0">
                          <a:solidFill>
                            <a:srgbClr val="000000"/>
                          </a:solidFill>
                          <a:effectLst/>
                          <a:latin typeface="Calibri" panose="020F0502020204030204" pitchFamily="34" charset="0"/>
                        </a:rPr>
                        <a:t>0.5237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0.1672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0.2269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0.4448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b"/>
                      <a:r>
                        <a:rPr lang="en-LV" sz="2400" b="0" i="0" u="none" strike="noStrike" dirty="0">
                          <a:solidFill>
                            <a:srgbClr val="000000"/>
                          </a:solidFill>
                          <a:effectLst/>
                          <a:latin typeface="Calibri" panose="020F0502020204030204" pitchFamily="34" charset="0"/>
                        </a:rPr>
                        <a:t>0.0373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LV" sz="2400" b="0" i="0" u="none" strike="noStrike" dirty="0">
                          <a:solidFill>
                            <a:srgbClr val="000000"/>
                          </a:solidFill>
                          <a:effectLst/>
                          <a:latin typeface="Calibri" panose="020F0502020204030204" pitchFamily="34" charset="0"/>
                        </a:rPr>
                        <a:t>0.169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31988540"/>
                  </a:ext>
                </a:extLst>
              </a:tr>
            </a:tbl>
          </a:graphicData>
        </a:graphic>
      </p:graphicFrame>
    </p:spTree>
    <p:extLst>
      <p:ext uri="{BB962C8B-B14F-4D97-AF65-F5344CB8AC3E}">
        <p14:creationId xmlns:p14="http://schemas.microsoft.com/office/powerpoint/2010/main" val="227874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D872D-F470-CACD-E38B-B4C7552EAB48}"/>
              </a:ext>
            </a:extLst>
          </p:cNvPr>
          <p:cNvSpPr>
            <a:spLocks noGrp="1"/>
          </p:cNvSpPr>
          <p:nvPr>
            <p:ph type="title"/>
          </p:nvPr>
        </p:nvSpPr>
        <p:spPr/>
        <p:txBody>
          <a:bodyPr/>
          <a:lstStyle/>
          <a:p>
            <a:r>
              <a:rPr lang="en-LV" dirty="0"/>
              <a:t>Marķets faila piemērs (output/with_punctuation/out_auto-1.html)</a:t>
            </a:r>
          </a:p>
        </p:txBody>
      </p:sp>
      <p:sp>
        <p:nvSpPr>
          <p:cNvPr id="3" name="Content Placeholder 2">
            <a:extLst>
              <a:ext uri="{FF2B5EF4-FFF2-40B4-BE49-F238E27FC236}">
                <a16:creationId xmlns:a16="http://schemas.microsoft.com/office/drawing/2014/main" id="{E100CA72-59BF-3F0B-8B71-576F9DD8FB56}"/>
              </a:ext>
            </a:extLst>
          </p:cNvPr>
          <p:cNvSpPr>
            <a:spLocks noGrp="1"/>
          </p:cNvSpPr>
          <p:nvPr>
            <p:ph idx="1"/>
          </p:nvPr>
        </p:nvSpPr>
        <p:spPr/>
        <p:txBody>
          <a:bodyPr>
            <a:normAutofit lnSpcReduction="10000"/>
          </a:bodyPr>
          <a:lstStyle/>
          <a:p>
            <a:pPr marL="0" indent="0" algn="l">
              <a:buNone/>
            </a:pPr>
            <a:r>
              <a:rPr lang="lv-LV" sz="2200" b="1" i="0" u="none" strike="noStrike" dirty="0">
                <a:solidFill>
                  <a:srgbClr val="000000"/>
                </a:solidFill>
                <a:effectLst/>
                <a:latin typeface="Arial" panose="020B0604020202020204" pitchFamily="34" charset="0"/>
              </a:rPr>
              <a:t>Krāsu nozīme:</a:t>
            </a:r>
          </a:p>
          <a:p>
            <a:pPr marL="457200" lvl="1" indent="0">
              <a:buNone/>
            </a:pPr>
            <a:r>
              <a:rPr lang="lv-LV" sz="1900" b="0" i="0" u="none" strike="noStrike" dirty="0">
                <a:solidFill>
                  <a:srgbClr val="FF0000"/>
                </a:solidFill>
                <a:effectLst/>
                <a:latin typeface="Arial" panose="020B0604020202020204" pitchFamily="34" charset="0"/>
              </a:rPr>
              <a:t>Sarkans</a:t>
            </a:r>
            <a:r>
              <a:rPr lang="lv-LV" sz="1900" b="0" i="0" u="none" strike="noStrike" dirty="0">
                <a:solidFill>
                  <a:srgbClr val="000000"/>
                </a:solidFill>
                <a:effectLst/>
                <a:latin typeface="Arial" panose="020B0604020202020204" pitchFamily="34" charset="0"/>
              </a:rPr>
              <a:t> = </a:t>
            </a:r>
            <a:r>
              <a:rPr lang="lv-LV" sz="1900" b="0" i="0" u="none" strike="noStrike" dirty="0" err="1">
                <a:solidFill>
                  <a:srgbClr val="000000"/>
                </a:solidFill>
                <a:effectLst/>
                <a:latin typeface="Arial" panose="020B0604020202020204" pitchFamily="34" charset="0"/>
              </a:rPr>
              <a:t>deletion</a:t>
            </a:r>
            <a:r>
              <a:rPr lang="lv-LV" sz="1900" b="0" i="0" u="none" strike="noStrike" dirty="0">
                <a:solidFill>
                  <a:srgbClr val="000000"/>
                </a:solidFill>
                <a:effectLst/>
                <a:latin typeface="Arial" panose="020B0604020202020204" pitchFamily="34" charset="0"/>
              </a:rPr>
              <a:t> (</a:t>
            </a:r>
            <a:r>
              <a:rPr lang="lv-LV" sz="1900" b="0" i="0" u="none" strike="noStrike" dirty="0" err="1">
                <a:solidFill>
                  <a:srgbClr val="000000"/>
                </a:solidFill>
                <a:effectLst/>
                <a:latin typeface="Arial" panose="020B0604020202020204" pitchFamily="34" charset="0"/>
              </a:rPr>
              <a:t>pazudūšais</a:t>
            </a:r>
            <a:r>
              <a:rPr lang="lv-LV" sz="1900" b="0" i="0" u="none" strike="noStrike" dirty="0">
                <a:solidFill>
                  <a:srgbClr val="000000"/>
                </a:solidFill>
                <a:effectLst/>
                <a:latin typeface="Arial" panose="020B0604020202020204" pitchFamily="34" charset="0"/>
              </a:rPr>
              <a:t> vārds)</a:t>
            </a:r>
          </a:p>
          <a:p>
            <a:pPr marL="457200" lvl="1" indent="0">
              <a:buNone/>
            </a:pPr>
            <a:r>
              <a:rPr lang="lv-LV" sz="1900" b="0" i="0" u="none" strike="noStrike" dirty="0">
                <a:solidFill>
                  <a:srgbClr val="0000FF"/>
                </a:solidFill>
                <a:effectLst/>
                <a:latin typeface="Arial" panose="020B0604020202020204" pitchFamily="34" charset="0"/>
              </a:rPr>
              <a:t>Zils</a:t>
            </a:r>
            <a:r>
              <a:rPr lang="lv-LV" sz="1900" b="0" i="0" u="none" strike="noStrike" dirty="0">
                <a:solidFill>
                  <a:srgbClr val="000000"/>
                </a:solidFill>
                <a:effectLst/>
                <a:latin typeface="Arial" panose="020B0604020202020204" pitchFamily="34" charset="0"/>
              </a:rPr>
              <a:t> = </a:t>
            </a:r>
            <a:r>
              <a:rPr lang="lv-LV" sz="1900" b="0" i="0" u="none" strike="noStrike" dirty="0" err="1">
                <a:solidFill>
                  <a:srgbClr val="000000"/>
                </a:solidFill>
                <a:effectLst/>
                <a:latin typeface="Arial" panose="020B0604020202020204" pitchFamily="34" charset="0"/>
              </a:rPr>
              <a:t>insertion</a:t>
            </a:r>
            <a:r>
              <a:rPr lang="lv-LV" sz="1900" b="0" i="0" u="none" strike="noStrike" dirty="0">
                <a:solidFill>
                  <a:srgbClr val="000000"/>
                </a:solidFill>
                <a:effectLst/>
                <a:latin typeface="Arial" panose="020B0604020202020204" pitchFamily="34" charset="0"/>
              </a:rPr>
              <a:t> (liekais vārds)</a:t>
            </a:r>
          </a:p>
          <a:p>
            <a:pPr marL="457200" lvl="1" indent="0">
              <a:buNone/>
            </a:pPr>
            <a:r>
              <a:rPr lang="lv-LV" sz="1900" b="0" i="0" u="none" strike="noStrike" dirty="0">
                <a:solidFill>
                  <a:srgbClr val="FFA500"/>
                </a:solidFill>
                <a:effectLst/>
                <a:latin typeface="Arial" panose="020B0604020202020204" pitchFamily="34" charset="0"/>
              </a:rPr>
              <a:t>Oranžs</a:t>
            </a:r>
            <a:r>
              <a:rPr lang="lv-LV" sz="1900" b="0" i="0" u="none" strike="noStrike" dirty="0">
                <a:solidFill>
                  <a:srgbClr val="000000"/>
                </a:solidFill>
                <a:effectLst/>
                <a:latin typeface="Arial" panose="020B0604020202020204" pitchFamily="34" charset="0"/>
              </a:rPr>
              <a:t> = </a:t>
            </a:r>
            <a:r>
              <a:rPr lang="lv-LV" sz="1900" b="0" i="0" u="none" strike="noStrike" dirty="0" err="1">
                <a:solidFill>
                  <a:srgbClr val="000000"/>
                </a:solidFill>
                <a:effectLst/>
                <a:latin typeface="Arial" panose="020B0604020202020204" pitchFamily="34" charset="0"/>
              </a:rPr>
              <a:t>substitution</a:t>
            </a:r>
            <a:r>
              <a:rPr lang="lv-LV" sz="1900" b="0" i="0" u="none" strike="noStrike" dirty="0">
                <a:solidFill>
                  <a:srgbClr val="000000"/>
                </a:solidFill>
                <a:effectLst/>
                <a:latin typeface="Arial" panose="020B0604020202020204" pitchFamily="34" charset="0"/>
              </a:rPr>
              <a:t> </a:t>
            </a:r>
            <a:r>
              <a:rPr lang="ru-RU" sz="1900" b="0" i="0" u="none" strike="noStrike" dirty="0">
                <a:solidFill>
                  <a:srgbClr val="000000"/>
                </a:solidFill>
                <a:effectLst/>
                <a:latin typeface="Arial" panose="020B0604020202020204" pitchFamily="34" charset="0"/>
              </a:rPr>
              <a:t>(</a:t>
            </a:r>
            <a:r>
              <a:rPr lang="lv-LV" sz="1900" b="0" i="0" u="none" strike="noStrike" dirty="0">
                <a:solidFill>
                  <a:srgbClr val="000000"/>
                </a:solidFill>
                <a:effectLst/>
                <a:latin typeface="Arial" panose="020B0604020202020204" pitchFamily="34" charset="0"/>
              </a:rPr>
              <a:t>aizvietotais pareizais vārds -&gt; nepareizs vārds)</a:t>
            </a:r>
          </a:p>
          <a:p>
            <a:pPr marL="0" indent="0" algn="l">
              <a:lnSpc>
                <a:spcPct val="120000"/>
              </a:lnSpc>
              <a:buNone/>
            </a:pPr>
            <a:r>
              <a:rPr lang="lv-LV" sz="2000" b="0" i="0" u="none" strike="noStrike" dirty="0">
                <a:solidFill>
                  <a:srgbClr val="000000"/>
                </a:solidFill>
                <a:effectLst/>
                <a:latin typeface="Arial" panose="020B0604020202020204" pitchFamily="34" charset="0"/>
              </a:rPr>
              <a:t>laba diena </a:t>
            </a:r>
            <a:r>
              <a:rPr lang="lv-LV" sz="2000" b="0" i="0" u="none" strike="noStrike" dirty="0">
                <a:solidFill>
                  <a:srgbClr val="FFA500"/>
                </a:solidFill>
                <a:effectLst/>
                <a:latin typeface="Arial" panose="020B0604020202020204" pitchFamily="34" charset="0"/>
              </a:rPr>
              <a:t>[sveicu -&gt; sveici]</a:t>
            </a:r>
            <a:r>
              <a:rPr lang="lv-LV" sz="2000" b="0" i="0" u="none" strike="noStrike" dirty="0">
                <a:solidFill>
                  <a:srgbClr val="000000"/>
                </a:solidFill>
                <a:effectLst/>
                <a:latin typeface="Arial" panose="020B0604020202020204" pitchFamily="34" charset="0"/>
              </a:rPr>
              <a:t> jūs jaunā 2026 gadā laika ritenis ir </a:t>
            </a:r>
            <a:r>
              <a:rPr lang="lv-LV" sz="2000" b="0" i="0" u="none" strike="noStrike" dirty="0">
                <a:solidFill>
                  <a:srgbClr val="FFA500"/>
                </a:solidFill>
                <a:effectLst/>
                <a:latin typeface="Arial" panose="020B0604020202020204" pitchFamily="34" charset="0"/>
              </a:rPr>
              <a:t>[veicis -&gt; veids]</a:t>
            </a:r>
            <a:r>
              <a:rPr lang="lv-LV" sz="2000" b="0" i="0" u="none" strike="noStrike" dirty="0">
                <a:solidFill>
                  <a:srgbClr val="000000"/>
                </a:solidFill>
                <a:effectLst/>
                <a:latin typeface="Arial" panose="020B0604020202020204" pitchFamily="34" charset="0"/>
              </a:rPr>
              <a:t> </a:t>
            </a:r>
            <a:r>
              <a:rPr lang="lv-LV" sz="2000" b="0" i="0" u="none" strike="noStrike" dirty="0">
                <a:solidFill>
                  <a:srgbClr val="FFA500"/>
                </a:solidFill>
                <a:effectLst/>
                <a:latin typeface="Arial" panose="020B0604020202020204" pitchFamily="34" charset="0"/>
              </a:rPr>
              <a:t>[pilnu -&gt; filmu]</a:t>
            </a:r>
            <a:r>
              <a:rPr lang="lv-LV" sz="2000" b="0" i="0" u="none" strike="noStrike" dirty="0">
                <a:solidFill>
                  <a:srgbClr val="000000"/>
                </a:solidFill>
                <a:effectLst/>
                <a:latin typeface="Arial" panose="020B0604020202020204" pitchFamily="34" charset="0"/>
              </a:rPr>
              <a:t> </a:t>
            </a:r>
            <a:r>
              <a:rPr lang="lv-LV" sz="2000" b="0" i="0" u="none" strike="noStrike" dirty="0" err="1">
                <a:solidFill>
                  <a:srgbClr val="000000"/>
                </a:solidFill>
                <a:effectLst/>
                <a:latin typeface="Arial" panose="020B0604020202020204" pitchFamily="34" charset="0"/>
              </a:rPr>
              <a:t>apgriezienu</a:t>
            </a:r>
            <a:r>
              <a:rPr lang="lv-LV" sz="2000" b="0" i="0" u="none" strike="noStrike" dirty="0">
                <a:solidFill>
                  <a:srgbClr val="000000"/>
                </a:solidFill>
                <a:effectLst/>
                <a:latin typeface="Arial" panose="020B0604020202020204" pitchFamily="34" charset="0"/>
              </a:rPr>
              <a:t> mēs atskatāmies uz paveikto bet nekas jau nebeidzās mēs dodamies tālāk šķetināsim datus darbus </a:t>
            </a:r>
            <a:r>
              <a:rPr lang="lv-LV" sz="2000" b="0" i="0" u="none" strike="noStrike" dirty="0">
                <a:solidFill>
                  <a:srgbClr val="FFA500"/>
                </a:solidFill>
                <a:effectLst/>
                <a:latin typeface="Arial" panose="020B0604020202020204" pitchFamily="34" charset="0"/>
              </a:rPr>
              <a:t>[dienu -&gt; pienu]</a:t>
            </a:r>
            <a:r>
              <a:rPr lang="lv-LV" sz="2000" b="0" i="0" u="none" strike="noStrike" dirty="0">
                <a:solidFill>
                  <a:srgbClr val="000000"/>
                </a:solidFill>
                <a:effectLst/>
                <a:latin typeface="Arial" panose="020B0604020202020204" pitchFamily="34" charset="0"/>
              </a:rPr>
              <a:t> pa dienai un novēlu jums </a:t>
            </a:r>
            <a:r>
              <a:rPr lang="lv-LV" sz="2000" b="0" i="0" u="none" strike="noStrike" dirty="0">
                <a:solidFill>
                  <a:srgbClr val="FFA500"/>
                </a:solidFill>
                <a:effectLst/>
                <a:latin typeface="Arial" panose="020B0604020202020204" pitchFamily="34" charset="0"/>
              </a:rPr>
              <a:t>[krausim -&gt; </a:t>
            </a:r>
            <a:r>
              <a:rPr lang="lv-LV" sz="2000" b="0" i="0" u="none" strike="noStrike" dirty="0" err="1">
                <a:solidFill>
                  <a:srgbClr val="FFA500"/>
                </a:solidFill>
                <a:effectLst/>
                <a:latin typeface="Arial" panose="020B0604020202020204" pitchFamily="34" charset="0"/>
              </a:rPr>
              <a:t>klausim</a:t>
            </a:r>
            <a:r>
              <a:rPr lang="lv-LV" sz="2000" b="0" i="0" u="none" strike="noStrike" dirty="0">
                <a:solidFill>
                  <a:srgbClr val="FFA500"/>
                </a:solidFill>
                <a:effectLst/>
                <a:latin typeface="Arial" panose="020B0604020202020204" pitchFamily="34" charset="0"/>
              </a:rPr>
              <a:t>]</a:t>
            </a:r>
            <a:r>
              <a:rPr lang="lv-LV" sz="2000" b="0" i="0" u="none" strike="noStrike" dirty="0">
                <a:solidFill>
                  <a:srgbClr val="000000"/>
                </a:solidFill>
                <a:effectLst/>
                <a:latin typeface="Arial" panose="020B0604020202020204" pitchFamily="34" charset="0"/>
              </a:rPr>
              <a:t> mūsu </a:t>
            </a:r>
            <a:r>
              <a:rPr lang="lv-LV" sz="2000" b="0" i="0" u="none" strike="noStrike" dirty="0">
                <a:solidFill>
                  <a:srgbClr val="FFA500"/>
                </a:solidFill>
                <a:effectLst/>
                <a:latin typeface="Arial" panose="020B0604020202020204" pitchFamily="34" charset="0"/>
              </a:rPr>
              <a:t>[veiksmes -&gt; </a:t>
            </a:r>
            <a:r>
              <a:rPr lang="lv-LV" sz="2000" b="0" i="0" u="none" strike="noStrike" dirty="0" err="1">
                <a:solidFill>
                  <a:srgbClr val="FFA500"/>
                </a:solidFill>
                <a:effectLst/>
                <a:latin typeface="Arial" panose="020B0604020202020204" pitchFamily="34" charset="0"/>
              </a:rPr>
              <a:t>veiksmas</a:t>
            </a:r>
            <a:r>
              <a:rPr lang="lv-LV" sz="2000" b="0" i="0" u="none" strike="noStrike" dirty="0">
                <a:solidFill>
                  <a:srgbClr val="FFA500"/>
                </a:solidFill>
                <a:effectLst/>
                <a:latin typeface="Arial" panose="020B0604020202020204" pitchFamily="34" charset="0"/>
              </a:rPr>
              <a:t>]</a:t>
            </a:r>
            <a:r>
              <a:rPr lang="lv-LV" sz="2000" b="0" i="0" u="none" strike="noStrike" dirty="0">
                <a:solidFill>
                  <a:srgbClr val="000000"/>
                </a:solidFill>
                <a:effectLst/>
                <a:latin typeface="Arial" panose="020B0604020202020204" pitchFamily="34" charset="0"/>
              </a:rPr>
              <a:t> stāstus un paveiktos darbus kopā lai šis gads būtu par kripatiņu labāks kā </a:t>
            </a:r>
            <a:r>
              <a:rPr lang="lv-LV" sz="2000" b="0" i="0" u="none" strike="noStrike" dirty="0">
                <a:solidFill>
                  <a:srgbClr val="FFA500"/>
                </a:solidFill>
                <a:effectLst/>
                <a:latin typeface="Arial" panose="020B0604020202020204" pitchFamily="34" charset="0"/>
              </a:rPr>
              <a:t>[iepriekšējais -&gt; iepriekšējus]</a:t>
            </a:r>
            <a:r>
              <a:rPr lang="lv-LV" sz="2000" b="0" i="0" u="none" strike="noStrike" dirty="0">
                <a:solidFill>
                  <a:srgbClr val="000000"/>
                </a:solidFill>
                <a:effectLst/>
                <a:latin typeface="Arial" panose="020B0604020202020204" pitchFamily="34" charset="0"/>
              </a:rPr>
              <a:t> </a:t>
            </a:r>
            <a:r>
              <a:rPr lang="lv-LV" sz="2000" b="0" i="0" u="none" strike="noStrike" dirty="0">
                <a:solidFill>
                  <a:srgbClr val="FF0000"/>
                </a:solidFill>
                <a:effectLst/>
                <a:latin typeface="Arial" panose="020B0604020202020204" pitchFamily="34" charset="0"/>
              </a:rPr>
              <a:t>un</a:t>
            </a:r>
            <a:r>
              <a:rPr lang="lv-LV" sz="2000" b="0" i="0" u="none" strike="noStrike" dirty="0">
                <a:solidFill>
                  <a:srgbClr val="000000"/>
                </a:solidFill>
                <a:effectLst/>
                <a:latin typeface="Arial" panose="020B0604020202020204" pitchFamily="34" charset="0"/>
              </a:rPr>
              <a:t> tālāk atskatīsimies uz šī gada pirmo nedēļu jeb tādu nedēļu kurā ir gan </a:t>
            </a:r>
            <a:r>
              <a:rPr lang="lv-LV" sz="2000" b="0" i="0" u="none" strike="noStrike" dirty="0">
                <a:solidFill>
                  <a:srgbClr val="FFA500"/>
                </a:solidFill>
                <a:effectLst/>
                <a:latin typeface="Arial" panose="020B0604020202020204" pitchFamily="34" charset="0"/>
              </a:rPr>
              <a:t>[decembra -&gt; </a:t>
            </a:r>
            <a:r>
              <a:rPr lang="lv-LV" sz="2000" b="0" i="0" u="none" strike="noStrike" dirty="0" err="1">
                <a:solidFill>
                  <a:srgbClr val="FFA500"/>
                </a:solidFill>
                <a:effectLst/>
                <a:latin typeface="Arial" panose="020B0604020202020204" pitchFamily="34" charset="0"/>
              </a:rPr>
              <a:t>decembera</a:t>
            </a:r>
            <a:r>
              <a:rPr lang="lv-LV" sz="2000" b="0" i="0" u="none" strike="noStrike" dirty="0">
                <a:solidFill>
                  <a:srgbClr val="FFA500"/>
                </a:solidFill>
                <a:effectLst/>
                <a:latin typeface="Arial" panose="020B0604020202020204" pitchFamily="34" charset="0"/>
              </a:rPr>
              <a:t>]</a:t>
            </a:r>
            <a:r>
              <a:rPr lang="lv-LV" sz="2000" b="0" i="0" u="none" strike="noStrike" dirty="0">
                <a:solidFill>
                  <a:srgbClr val="000000"/>
                </a:solidFill>
                <a:effectLst/>
                <a:latin typeface="Arial" panose="020B0604020202020204" pitchFamily="34" charset="0"/>
              </a:rPr>
              <a:t> noslēgums </a:t>
            </a:r>
            <a:r>
              <a:rPr lang="lv-LV" sz="2000" b="0" i="0" u="none" strike="noStrike" dirty="0">
                <a:solidFill>
                  <a:srgbClr val="0000FF"/>
                </a:solidFill>
                <a:effectLst/>
                <a:latin typeface="Arial" panose="020B0604020202020204" pitchFamily="34" charset="0"/>
              </a:rPr>
              <a:t>gadu</a:t>
            </a:r>
            <a:r>
              <a:rPr lang="lv-LV" sz="2000" b="0" i="0" u="none" strike="noStrike" dirty="0">
                <a:solidFill>
                  <a:srgbClr val="000000"/>
                </a:solidFill>
                <a:effectLst/>
                <a:latin typeface="Arial" panose="020B0604020202020204" pitchFamily="34" charset="0"/>
              </a:rPr>
              <a:t> </a:t>
            </a:r>
            <a:r>
              <a:rPr lang="lv-LV" sz="2000" b="0" i="0" u="none" strike="noStrike" dirty="0">
                <a:solidFill>
                  <a:srgbClr val="FFA500"/>
                </a:solidFill>
                <a:effectLst/>
                <a:latin typeface="Arial" panose="020B0604020202020204" pitchFamily="34" charset="0"/>
              </a:rPr>
              <a:t>[gadumija -&gt; </a:t>
            </a:r>
            <a:r>
              <a:rPr lang="lv-LV" sz="2000" b="0" i="0" u="none" strike="noStrike" dirty="0" err="1">
                <a:solidFill>
                  <a:srgbClr val="FFA500"/>
                </a:solidFill>
                <a:effectLst/>
                <a:latin typeface="Arial" panose="020B0604020202020204" pitchFamily="34" charset="0"/>
              </a:rPr>
              <a:t>mīja</a:t>
            </a:r>
            <a:r>
              <a:rPr lang="lv-LV" sz="2000" b="0" i="0" u="none" strike="noStrike" dirty="0">
                <a:solidFill>
                  <a:srgbClr val="FFA500"/>
                </a:solidFill>
                <a:effectLst/>
                <a:latin typeface="Arial" panose="020B0604020202020204" pitchFamily="34" charset="0"/>
              </a:rPr>
              <a:t>]</a:t>
            </a:r>
            <a:r>
              <a:rPr lang="lv-LV" sz="2000" b="0" i="0" u="none" strike="noStrike" dirty="0">
                <a:solidFill>
                  <a:srgbClr val="000000"/>
                </a:solidFill>
                <a:effectLst/>
                <a:latin typeface="Arial" panose="020B0604020202020204" pitchFamily="34" charset="0"/>
              </a:rPr>
              <a:t>un jauna gada sākums cenas šajā nedēļā ir bijušas visai mierīgas </a:t>
            </a:r>
            <a:r>
              <a:rPr lang="lv-LV" sz="2000" b="0" i="0" u="none" strike="noStrike" dirty="0">
                <a:solidFill>
                  <a:srgbClr val="FFA500"/>
                </a:solidFill>
                <a:effectLst/>
                <a:latin typeface="Arial" panose="020B0604020202020204" pitchFamily="34" charset="0"/>
              </a:rPr>
              <a:t>[maz -&gt; </a:t>
            </a:r>
            <a:r>
              <a:rPr lang="lv-LV" sz="2000" b="0" i="0" u="none" strike="noStrike" dirty="0" err="1">
                <a:solidFill>
                  <a:srgbClr val="FFA500"/>
                </a:solidFill>
                <a:effectLst/>
                <a:latin typeface="Arial" panose="020B0604020202020204" pitchFamily="34" charset="0"/>
              </a:rPr>
              <a:t>mazvietekmētas</a:t>
            </a:r>
            <a:r>
              <a:rPr lang="lv-LV" sz="2000" b="0" i="0" u="none" strike="noStrike" dirty="0">
                <a:solidFill>
                  <a:srgbClr val="FFA500"/>
                </a:solidFill>
                <a:effectLst/>
                <a:latin typeface="Arial" panose="020B0604020202020204" pitchFamily="34" charset="0"/>
              </a:rPr>
              <a:t>]</a:t>
            </a:r>
            <a:r>
              <a:rPr lang="lv-LV" sz="2000" b="0" i="0" u="none" strike="noStrike" dirty="0">
                <a:solidFill>
                  <a:srgbClr val="000000"/>
                </a:solidFill>
                <a:effectLst/>
                <a:latin typeface="Arial" panose="020B0604020202020204" pitchFamily="34" charset="0"/>
              </a:rPr>
              <a:t> </a:t>
            </a:r>
            <a:r>
              <a:rPr lang="lv-LV" sz="2000" b="0" i="0" u="none" strike="noStrike" dirty="0">
                <a:solidFill>
                  <a:srgbClr val="FF0000"/>
                </a:solidFill>
                <a:effectLst/>
                <a:latin typeface="Arial" panose="020B0604020202020204" pitchFamily="34" charset="0"/>
              </a:rPr>
              <a:t>ietekmētas</a:t>
            </a:r>
            <a:endParaRPr lang="lv-LV" sz="2000" b="0" i="0" u="none" strike="noStrike" dirty="0">
              <a:solidFill>
                <a:srgbClr val="000000"/>
              </a:solidFill>
              <a:effectLst/>
              <a:latin typeface="Arial" panose="020B0604020202020204" pitchFamily="34" charset="0"/>
            </a:endParaRPr>
          </a:p>
          <a:p>
            <a:pPr marL="0" indent="0">
              <a:buNone/>
            </a:pPr>
            <a:endParaRPr lang="en-LV" dirty="0"/>
          </a:p>
        </p:txBody>
      </p:sp>
    </p:spTree>
    <p:extLst>
      <p:ext uri="{BB962C8B-B14F-4D97-AF65-F5344CB8AC3E}">
        <p14:creationId xmlns:p14="http://schemas.microsoft.com/office/powerpoint/2010/main" val="3824939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44C8-9AAF-3452-40F9-C57BB0AAEFC4}"/>
              </a:ext>
            </a:extLst>
          </p:cNvPr>
          <p:cNvSpPr>
            <a:spLocks noGrp="1"/>
          </p:cNvSpPr>
          <p:nvPr>
            <p:ph type="title"/>
          </p:nvPr>
        </p:nvSpPr>
        <p:spPr/>
        <p:txBody>
          <a:bodyPr/>
          <a:lstStyle/>
          <a:p>
            <a:r>
              <a:rPr lang="en-LV" dirty="0"/>
              <a:t>auto-1 novērtējums (</a:t>
            </a:r>
            <a:r>
              <a:rPr lang="en-GB" dirty="0"/>
              <a:t>info/</a:t>
            </a:r>
            <a:r>
              <a:rPr lang="en-GB" dirty="0" err="1"/>
              <a:t>manuāla_analīze.txt</a:t>
            </a:r>
            <a:r>
              <a:rPr lang="en-LV" dirty="0"/>
              <a:t>)</a:t>
            </a:r>
          </a:p>
        </p:txBody>
      </p:sp>
      <p:sp>
        <p:nvSpPr>
          <p:cNvPr id="3" name="Content Placeholder 2">
            <a:extLst>
              <a:ext uri="{FF2B5EF4-FFF2-40B4-BE49-F238E27FC236}">
                <a16:creationId xmlns:a16="http://schemas.microsoft.com/office/drawing/2014/main" id="{F1E40C3E-84DF-C87A-9453-9570976B879F}"/>
              </a:ext>
            </a:extLst>
          </p:cNvPr>
          <p:cNvSpPr>
            <a:spLocks noGrp="1"/>
          </p:cNvSpPr>
          <p:nvPr>
            <p:ph idx="1"/>
          </p:nvPr>
        </p:nvSpPr>
        <p:spPr/>
        <p:txBody>
          <a:bodyPr>
            <a:normAutofit fontScale="85000" lnSpcReduction="20000"/>
          </a:bodyPr>
          <a:lstStyle/>
          <a:p>
            <a:pPr marL="0" indent="0">
              <a:buNone/>
            </a:pPr>
            <a:r>
              <a:rPr lang="lv-LV" dirty="0">
                <a:latin typeface="+mj-lt"/>
              </a:rPr>
              <a:t>Kandidāta ģenerētajā tekstā ir daudz lieku pieturzīmju — komatu un punktu. Runājot par vārdiem, daži no tiem ir sadalīti nepareizi, piemēram, “gadu mija” nevis “gadumija”. Bieži ir problēmas ar locījumiem, kā arī sastopami gramatiski nepareizi pierakstīti vārdi, piemēram, “</a:t>
            </a:r>
            <a:r>
              <a:rPr lang="lv-LV" dirty="0" err="1">
                <a:latin typeface="+mj-lt"/>
              </a:rPr>
              <a:t>izlāmu</a:t>
            </a:r>
            <a:r>
              <a:rPr lang="lv-LV" dirty="0">
                <a:latin typeface="+mj-lt"/>
              </a:rPr>
              <a:t>” nevis “islāma”. Savukārt lieku vārdu tekstā gandrīz nav.</a:t>
            </a:r>
          </a:p>
          <a:p>
            <a:pPr marL="0" indent="0">
              <a:buNone/>
            </a:pPr>
            <a:r>
              <a:rPr lang="lv-LV" dirty="0">
                <a:latin typeface="+mj-lt"/>
              </a:rPr>
              <a:t>Skatoties uz WIL, var secināt, ka daudz vārdu trūkst, ir nepareizi pierakstīti vai arī nevar tikt identificēti kļūdainas punktuācijas dēļ. Piemēram, “labdien.” un “labdien!” tiek uzskatīti par pilnīgi atšķirīgiem vārdiem/</a:t>
            </a:r>
            <a:r>
              <a:rPr lang="lv-LV" dirty="0" err="1">
                <a:latin typeface="+mj-lt"/>
              </a:rPr>
              <a:t>tokeniem</a:t>
            </a:r>
            <a:r>
              <a:rPr lang="lv-LV" dirty="0">
                <a:latin typeface="+mj-lt"/>
              </a:rPr>
              <a:t>. Salīdzinot WER un CER, var arī secināt, ka modelis bieži nekorekti uztver vārdus, kļūdoties tikai dažos simbolos, kas daļēji varētu būt   nepareizu locījumu dēļ.</a:t>
            </a:r>
          </a:p>
          <a:p>
            <a:pPr marL="0" indent="0">
              <a:buNone/>
            </a:pPr>
            <a:r>
              <a:rPr lang="lv-LV" dirty="0">
                <a:latin typeface="+mj-lt"/>
              </a:rPr>
              <a:t>Salīdzinot rādītājus tekstiem ar pieturzīmēm un bez tām, var ievērot, ka visi rādītāji uzlabojas, noņemot punktuāciju. Tā kā CER izmaiņas ir mazākas par 0.01, var secināt, ka kļūdainas pieturzīmes veido salīdzinoši nelielu daļu no kopējā simbolu skaita. Tomēr tās ievērojami ietekmē pareizu vārdu/</a:t>
            </a:r>
            <a:r>
              <a:rPr lang="lv-LV" dirty="0" err="1">
                <a:latin typeface="+mj-lt"/>
              </a:rPr>
              <a:t>tokenu</a:t>
            </a:r>
            <a:r>
              <a:rPr lang="lv-LV" dirty="0">
                <a:latin typeface="+mj-lt"/>
              </a:rPr>
              <a:t> identificēšanu, jo kļūdainu pieturzīmju esamība būtiski palielina WER un WIL rādītājus.</a:t>
            </a:r>
          </a:p>
          <a:p>
            <a:pPr marL="0" indent="0">
              <a:buNone/>
            </a:pPr>
            <a:endParaRPr lang="lv-LV" dirty="0"/>
          </a:p>
          <a:p>
            <a:pPr marL="0" indent="0">
              <a:buNone/>
            </a:pPr>
            <a:endParaRPr lang="en-LV" dirty="0"/>
          </a:p>
        </p:txBody>
      </p:sp>
    </p:spTree>
    <p:extLst>
      <p:ext uri="{BB962C8B-B14F-4D97-AF65-F5344CB8AC3E}">
        <p14:creationId xmlns:p14="http://schemas.microsoft.com/office/powerpoint/2010/main" val="195055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44C8-9AAF-3452-40F9-C57BB0AAEFC4}"/>
              </a:ext>
            </a:extLst>
          </p:cNvPr>
          <p:cNvSpPr>
            <a:spLocks noGrp="1"/>
          </p:cNvSpPr>
          <p:nvPr>
            <p:ph type="title"/>
          </p:nvPr>
        </p:nvSpPr>
        <p:spPr/>
        <p:txBody>
          <a:bodyPr/>
          <a:lstStyle/>
          <a:p>
            <a:r>
              <a:rPr lang="en-LV" dirty="0"/>
              <a:t>auto-2 novērtējums (</a:t>
            </a:r>
            <a:r>
              <a:rPr lang="en-GB" dirty="0"/>
              <a:t>info/</a:t>
            </a:r>
            <a:r>
              <a:rPr lang="en-GB" dirty="0" err="1"/>
              <a:t>manuāla_analīze.txt</a:t>
            </a:r>
            <a:r>
              <a:rPr lang="en-LV" dirty="0"/>
              <a:t>)</a:t>
            </a:r>
          </a:p>
        </p:txBody>
      </p:sp>
      <p:sp>
        <p:nvSpPr>
          <p:cNvPr id="3" name="Content Placeholder 2">
            <a:extLst>
              <a:ext uri="{FF2B5EF4-FFF2-40B4-BE49-F238E27FC236}">
                <a16:creationId xmlns:a16="http://schemas.microsoft.com/office/drawing/2014/main" id="{F1E40C3E-84DF-C87A-9453-9570976B879F}"/>
              </a:ext>
            </a:extLst>
          </p:cNvPr>
          <p:cNvSpPr>
            <a:spLocks noGrp="1"/>
          </p:cNvSpPr>
          <p:nvPr>
            <p:ph idx="1"/>
          </p:nvPr>
        </p:nvSpPr>
        <p:spPr/>
        <p:txBody>
          <a:bodyPr>
            <a:normAutofit fontScale="77500" lnSpcReduction="20000"/>
          </a:bodyPr>
          <a:lstStyle/>
          <a:p>
            <a:pPr marL="0" indent="0">
              <a:buNone/>
            </a:pPr>
            <a:r>
              <a:rPr lang="lv-LV" dirty="0">
                <a:latin typeface="+mj-lt"/>
              </a:rPr>
              <a:t>Otrajam kandidātam gandrīz nav kļūdu. Vienīgā ievērojamā īpatnība ir tā, ka modelis, uztverot vārdu “eiro”, izmanto valūtas simbolu un novieto to pirms skaitļa, piemēram, “€90” nevis “90 eiro”.</a:t>
            </a:r>
          </a:p>
          <a:p>
            <a:pPr marL="0" indent="0">
              <a:buNone/>
            </a:pPr>
            <a:r>
              <a:rPr lang="lv-LV" dirty="0">
                <a:latin typeface="+mj-lt"/>
              </a:rPr>
              <a:t>Normalizēt to pirmsapstrādes stadijā, līdzīgi kā pieturzīmju normalizēšanu, nebūs tik triviāli. Tam, visticamāk, būs nepieciešama īpaša pirmsapstrādes procedūra, kas būtu pielāgota tieši šim modelim.</a:t>
            </a:r>
          </a:p>
          <a:p>
            <a:pPr marL="0" indent="0">
              <a:buNone/>
            </a:pPr>
            <a:r>
              <a:rPr lang="lv-LV" dirty="0">
                <a:latin typeface="+mj-lt"/>
              </a:rPr>
              <a:t>Var arī novērot, ka tekstā ir diezgan daudz lieku komatu, taču tas būtiski neietekmē teksta jēgu, un kopumā teksta kvalitāte ir ļoti augsta.</a:t>
            </a:r>
          </a:p>
          <a:p>
            <a:pPr marL="0" indent="0">
              <a:buNone/>
            </a:pPr>
            <a:r>
              <a:rPr lang="lv-LV" dirty="0">
                <a:latin typeface="+mj-lt"/>
              </a:rPr>
              <a:t>Visu trīs metriku lielumi ir ievērojami mazāki nekā auto-1 rezultāti, kas arī apstiprina subjektīvo transkripcijas kvalitātes novērtējumu. Skatoties uz WER un CER atšķirību, var secināt, ka kļūdaini vārdi galvenokārt atšķiras tikai dažos simbolos, nevis ir pilnīgi nepareizi. Tas, ka auto-1 gadījumā, var liecināt par nepareiziem vārdu locījumiem. </a:t>
            </a:r>
          </a:p>
          <a:p>
            <a:pPr marL="0" indent="0">
              <a:buNone/>
            </a:pPr>
            <a:r>
              <a:rPr lang="lv-LV" dirty="0">
                <a:latin typeface="+mj-lt"/>
              </a:rPr>
              <a:t>Līdzīgi kā auto-1 gadījumā, var redzēt, ka, lai gan punktuācijas kļūdu īpatsvars ir neliels (CER: 0.0221 → 0.0125), to ietekme ir ļoti būtiska, jo gan WER, gan WIL samazinās vairākas reizes.</a:t>
            </a:r>
            <a:endParaRPr lang="en-LV" dirty="0">
              <a:latin typeface="+mj-lt"/>
            </a:endParaRPr>
          </a:p>
        </p:txBody>
      </p:sp>
    </p:spTree>
    <p:extLst>
      <p:ext uri="{BB962C8B-B14F-4D97-AF65-F5344CB8AC3E}">
        <p14:creationId xmlns:p14="http://schemas.microsoft.com/office/powerpoint/2010/main" val="2329572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44C8-9AAF-3452-40F9-C57BB0AAEFC4}"/>
              </a:ext>
            </a:extLst>
          </p:cNvPr>
          <p:cNvSpPr>
            <a:spLocks noGrp="1"/>
          </p:cNvSpPr>
          <p:nvPr>
            <p:ph type="title"/>
          </p:nvPr>
        </p:nvSpPr>
        <p:spPr/>
        <p:txBody>
          <a:bodyPr/>
          <a:lstStyle/>
          <a:p>
            <a:r>
              <a:rPr lang="en-LV" dirty="0"/>
              <a:t>auto-3 novērtējums (</a:t>
            </a:r>
            <a:r>
              <a:rPr lang="en-GB" dirty="0"/>
              <a:t>info/</a:t>
            </a:r>
            <a:r>
              <a:rPr lang="en-GB" dirty="0" err="1"/>
              <a:t>manuāla_analīze.txt</a:t>
            </a:r>
            <a:r>
              <a:rPr lang="en-LV" dirty="0"/>
              <a:t>)</a:t>
            </a:r>
          </a:p>
        </p:txBody>
      </p:sp>
      <p:sp>
        <p:nvSpPr>
          <p:cNvPr id="3" name="Content Placeholder 2">
            <a:extLst>
              <a:ext uri="{FF2B5EF4-FFF2-40B4-BE49-F238E27FC236}">
                <a16:creationId xmlns:a16="http://schemas.microsoft.com/office/drawing/2014/main" id="{F1E40C3E-84DF-C87A-9453-9570976B879F}"/>
              </a:ext>
            </a:extLst>
          </p:cNvPr>
          <p:cNvSpPr>
            <a:spLocks noGrp="1"/>
          </p:cNvSpPr>
          <p:nvPr>
            <p:ph idx="1"/>
          </p:nvPr>
        </p:nvSpPr>
        <p:spPr/>
        <p:txBody>
          <a:bodyPr>
            <a:normAutofit fontScale="85000" lnSpcReduction="10000"/>
          </a:bodyPr>
          <a:lstStyle/>
          <a:p>
            <a:pPr marL="0" indent="0">
              <a:buNone/>
            </a:pPr>
            <a:r>
              <a:rPr lang="lv-LV" dirty="0">
                <a:latin typeface="+mj-lt"/>
              </a:rPr>
              <a:t>Trešajam modelim nav tik daudz problēmu ar pareizrakstību, locījumiem vai nepareizu vārdu uztveršanu, ka pirmajam, taču tam ir cita, ļoti nopietna problēma. Modelis bieži nepareizi uztver skaitļus, palielinot tos par 5 vienībām, piemēram, “75” nevis “70”.</a:t>
            </a:r>
          </a:p>
          <a:p>
            <a:pPr marL="0" indent="0">
              <a:buNone/>
            </a:pPr>
            <a:r>
              <a:rPr lang="lv-LV" dirty="0">
                <a:latin typeface="+mj-lt"/>
              </a:rPr>
              <a:t>Tā var būt kritiska kļūda, jo vārdu kļūdas bieži var saprast pēc konteksta, taču skaitļu kļūdas ir daudz grūtāk pamanīt. Tas var novest pie nepareizas cenu vai citu skaitlisku datu uztveres, kas lietotājus var maldināt un radīt nepareizu priekšstatu par faktiem.</a:t>
            </a:r>
          </a:p>
          <a:p>
            <a:pPr marL="0" indent="0">
              <a:buNone/>
            </a:pPr>
            <a:r>
              <a:rPr lang="lv-LV" dirty="0">
                <a:latin typeface="+mj-lt"/>
              </a:rPr>
              <a:t>Trešajā gadījumā punktuācijas noņemšana neietekmē rezultātus tik daudz kā iepriekšējos gadījumos. Pirms punktuācijas noņemšanas auto-3 rāda nedaudz sliktākus, bet ne īpaši, rādītājus nekā auto-2, taču tas slēpj svarīgu kļūdu ar skaitļiem.</a:t>
            </a:r>
          </a:p>
          <a:p>
            <a:pPr marL="0" indent="0">
              <a:buNone/>
            </a:pPr>
            <a:r>
              <a:rPr lang="lv-LV" dirty="0">
                <a:latin typeface="+mj-lt"/>
              </a:rPr>
              <a:t>Šajā gadījumā izvēlētās metrikas nevar pietiekami labi novērtēt augstāk aprakstītas skaitļu  kļūdas nozīmīgumu, kas labi parāda šo metriku ierobežojumus.</a:t>
            </a:r>
          </a:p>
          <a:p>
            <a:pPr marL="0" indent="0">
              <a:buNone/>
            </a:pPr>
            <a:endParaRPr lang="en-LV" dirty="0">
              <a:latin typeface="+mj-lt"/>
            </a:endParaRPr>
          </a:p>
        </p:txBody>
      </p:sp>
    </p:spTree>
    <p:extLst>
      <p:ext uri="{BB962C8B-B14F-4D97-AF65-F5344CB8AC3E}">
        <p14:creationId xmlns:p14="http://schemas.microsoft.com/office/powerpoint/2010/main" val="315869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6C90A-6483-E08E-FD91-1B2D8E490CB3}"/>
              </a:ext>
            </a:extLst>
          </p:cNvPr>
          <p:cNvSpPr>
            <a:spLocks noGrp="1"/>
          </p:cNvSpPr>
          <p:nvPr>
            <p:ph type="title"/>
          </p:nvPr>
        </p:nvSpPr>
        <p:spPr/>
        <p:txBody>
          <a:bodyPr/>
          <a:lstStyle/>
          <a:p>
            <a:r>
              <a:rPr lang="en-LV" dirty="0"/>
              <a:t>Secinājumi</a:t>
            </a:r>
          </a:p>
        </p:txBody>
      </p:sp>
      <p:sp>
        <p:nvSpPr>
          <p:cNvPr id="3" name="Content Placeholder 2">
            <a:extLst>
              <a:ext uri="{FF2B5EF4-FFF2-40B4-BE49-F238E27FC236}">
                <a16:creationId xmlns:a16="http://schemas.microsoft.com/office/drawing/2014/main" id="{0519FA3A-E2CD-5956-D793-6BF3B5A3D852}"/>
              </a:ext>
            </a:extLst>
          </p:cNvPr>
          <p:cNvSpPr>
            <a:spLocks noGrp="1"/>
          </p:cNvSpPr>
          <p:nvPr>
            <p:ph idx="1"/>
          </p:nvPr>
        </p:nvSpPr>
        <p:spPr/>
        <p:txBody>
          <a:bodyPr>
            <a:normAutofit fontScale="92500" lnSpcReduction="10000"/>
          </a:bodyPr>
          <a:lstStyle/>
          <a:p>
            <a:pPr marL="514350" indent="-514350">
              <a:buFont typeface="+mj-lt"/>
              <a:buAutoNum type="arabicPeriod"/>
            </a:pPr>
            <a:r>
              <a:rPr lang="lv-LV" b="0" i="0" u="none" strike="noStrike" dirty="0">
                <a:solidFill>
                  <a:srgbClr val="000000"/>
                </a:solidFill>
                <a:effectLst/>
                <a:latin typeface="+mj-lt"/>
              </a:rPr>
              <a:t>Salīdzinot novērtētos WER, CER un WIL rādītājus gadījumos ar un bez pieturzīmēm, var skaidri redzēt, ka, noņemot punktuāciju, metriku vērtības uzlabojas. Lai gan tādējādi tiek zaudēta daļa CER sniegtās informācijas, WER un WIL šajā gadījumā sniedz ticamākus rezultātus.</a:t>
            </a:r>
          </a:p>
          <a:p>
            <a:pPr marL="514350" indent="-514350">
              <a:buFont typeface="+mj-lt"/>
              <a:buAutoNum type="arabicPeriod"/>
            </a:pPr>
            <a:r>
              <a:rPr lang="lv-LV" dirty="0">
                <a:latin typeface="+mj-lt"/>
              </a:rPr>
              <a:t>Novērtējot tekstus bez pieturzīmēm, auto-2 rezultāti ir WER=0.0272, CER=0.0125 un WIL=0.0373, savukārt auto-1 un auto-3 kandidātiem tie ir attiecīgi 0.2772, 0.0735, 0.4448 un 0.0952, 0.0328, 0.169.</a:t>
            </a:r>
          </a:p>
          <a:p>
            <a:pPr marL="514350" indent="-514350">
              <a:buFont typeface="+mj-lt"/>
              <a:buAutoNum type="arabicPeriod"/>
            </a:pPr>
            <a:r>
              <a:rPr lang="lv-LV" dirty="0">
                <a:latin typeface="+mj-lt"/>
              </a:rPr>
              <a:t>Acīmredzami, ka vislabākos rezultātus parāda otrais kandidāts, jo abos gadījumos — gan novērtējot tekstus ar pieturzīmēm, gan bez tām — auto-2 visās trīs metrikās (WER, CER, WIL) uzrāda vismazākās vērtības.</a:t>
            </a:r>
          </a:p>
          <a:p>
            <a:pPr marL="514350" indent="-514350">
              <a:buFont typeface="+mj-lt"/>
              <a:buAutoNum type="arabicPeriod"/>
            </a:pPr>
            <a:r>
              <a:rPr lang="lv-LV" dirty="0">
                <a:latin typeface="+mj-lt"/>
              </a:rPr>
              <a:t>Trešais modelis kopumā parāda labākus rezultātus nekā pirmais, taču tam ir nopietns trūkums — nekorekta skaitļu transkripcija.</a:t>
            </a:r>
          </a:p>
          <a:p>
            <a:pPr marL="0" indent="0">
              <a:buNone/>
            </a:pPr>
            <a:endParaRPr lang="en-LV" dirty="0">
              <a:latin typeface="+mj-lt"/>
            </a:endParaRPr>
          </a:p>
        </p:txBody>
      </p:sp>
    </p:spTree>
    <p:extLst>
      <p:ext uri="{BB962C8B-B14F-4D97-AF65-F5344CB8AC3E}">
        <p14:creationId xmlns:p14="http://schemas.microsoft.com/office/powerpoint/2010/main" val="1928412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1667</Words>
  <Application>Microsoft Macintosh PowerPoint</Application>
  <PresentationFormat>Widescreen</PresentationFormat>
  <Paragraphs>97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Automātisko runas transkripciju kvalitātes novērtēšana</vt:lpstr>
      <vt:lpstr>Uzdevumi</vt:lpstr>
      <vt:lpstr>Metrikas</vt:lpstr>
      <vt:lpstr>WER (Word Error Rate)</vt:lpstr>
      <vt:lpstr>CER (Charecter Error Rate)</vt:lpstr>
      <vt:lpstr>WIL (Word Information Lost)</vt:lpstr>
      <vt:lpstr>Risinājuma struktūra</vt:lpstr>
      <vt:lpstr>Metriku noteikšana (main.py)</vt:lpstr>
      <vt:lpstr>Metriku rezultāti (output/score_with*.csv)</vt:lpstr>
      <vt:lpstr>Marķets faila piemērs (output/with_punctuation/out_auto-1.html)</vt:lpstr>
      <vt:lpstr>auto-1 novērtējums (info/manuāla_analīze.txt)</vt:lpstr>
      <vt:lpstr>auto-2 novērtējums (info/manuāla_analīze.txt)</vt:lpstr>
      <vt:lpstr>auto-3 novērtējums (info/manuāla_analīze.txt)</vt:lpstr>
      <vt:lpstr>Secinājumi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Automātisko runas transkripciju kvalitātes novērtēšana</dc:title>
  <dc:creator>Nikolajs Fedotovs</dc:creator>
  <cp:lastModifiedBy>Nikolajs Fedotovs</cp:lastModifiedBy>
  <cp:revision>25</cp:revision>
  <dcterms:created xsi:type="dcterms:W3CDTF">2026-03-11T14:03:47Z</dcterms:created>
  <dcterms:modified xsi:type="dcterms:W3CDTF">2026-03-11T17:48:30Z</dcterms:modified>
</cp:coreProperties>
</file>